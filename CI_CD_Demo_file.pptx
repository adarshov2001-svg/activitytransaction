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69" r:id="rId2"/>
    <p:sldId id="257" r:id="rId3"/>
    <p:sldId id="270" r:id="rId4"/>
    <p:sldId id="258" r:id="rId5"/>
    <p:sldId id="272" r:id="rId6"/>
    <p:sldId id="259" r:id="rId7"/>
    <p:sldId id="260" r:id="rId8"/>
    <p:sldId id="287" r:id="rId9"/>
    <p:sldId id="261" r:id="rId10"/>
    <p:sldId id="262" r:id="rId11"/>
    <p:sldId id="275" r:id="rId12"/>
    <p:sldId id="288" r:id="rId13"/>
    <p:sldId id="263" r:id="rId14"/>
    <p:sldId id="286" r:id="rId15"/>
    <p:sldId id="264" r:id="rId16"/>
    <p:sldId id="289" r:id="rId17"/>
    <p:sldId id="265" r:id="rId18"/>
    <p:sldId id="290" r:id="rId19"/>
    <p:sldId id="266" r:id="rId20"/>
    <p:sldId id="291" r:id="rId21"/>
    <p:sldId id="267" r:id="rId22"/>
    <p:sldId id="292" r:id="rId2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A63ADA-FB51-D110-B5D1-CF2C705CDEC9}" v="13" dt="2026-05-15T05:48:35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90327-DCE7-4839-8BDA-666388535203}" type="datetimeFigureOut">
              <a:rPr lang="en-IN" smtClean="0"/>
              <a:pPr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D21C6-1F74-4338-A1ED-5992DED4BE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86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920240"/>
            <a:ext cx="624960" cy="4433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624960" cy="4433400"/>
          </a:xfrm>
          <a:prstGeom prst="rect">
            <a:avLst/>
          </a:prstGeom>
        </p:spPr>
        <p:txBody>
          <a:bodyPr lIns="0" tIns="0" rIns="0" bIns="0">
            <a:normAutofit fontScale="47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09480" y="704160"/>
            <a:ext cx="10971360" cy="529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94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9298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4236120"/>
            <a:ext cx="624960" cy="2114640"/>
          </a:xfrm>
          <a:prstGeom prst="rect">
            <a:avLst/>
          </a:prstGeom>
        </p:spPr>
        <p:txBody>
          <a:bodyPr lIns="0" tIns="0" rIns="0" bIns="0">
            <a:normAutofit fontScale="15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624960" cy="2114640"/>
          </a:xfrm>
          <a:prstGeom prst="rect">
            <a:avLst/>
          </a:prstGeom>
        </p:spPr>
        <p:txBody>
          <a:bodyPr lIns="0" tIns="0" rIns="0" bIns="0">
            <a:normAutofit fontScale="15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09480" y="4236120"/>
            <a:ext cx="624960" cy="2114640"/>
          </a:xfrm>
          <a:prstGeom prst="rect">
            <a:avLst/>
          </a:prstGeom>
        </p:spPr>
        <p:txBody>
          <a:bodyPr lIns="0" tIns="0" rIns="0" bIns="0">
            <a:normAutofit fontScale="15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94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9298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20800" y="192024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1032120" y="192024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423612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820800" y="423612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1032120" y="423612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19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 cstate="print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/>
          <p:cNvSpPr/>
          <p:nvPr/>
        </p:nvSpPr>
        <p:spPr>
          <a:xfrm>
            <a:off x="-12600" y="-7200"/>
            <a:ext cx="12215880" cy="1040040"/>
          </a:xfrm>
          <a:custGeom>
            <a:avLst/>
            <a:gdLst/>
            <a:ahLst/>
            <a:cxnLst/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98"/>
                </a:srgbClr>
              </a:gs>
              <a:gs pos="100000">
                <a:srgbClr val="00C4CD">
                  <a:alpha val="55294"/>
                </a:srgbClr>
              </a:gs>
            </a:gsLst>
            <a:lin ang="5400000"/>
          </a:gra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" name="CustomShape 2"/>
          <p:cNvSpPr/>
          <p:nvPr/>
        </p:nvSpPr>
        <p:spPr>
          <a:xfrm>
            <a:off x="5842080" y="-7200"/>
            <a:ext cx="6348600" cy="636840"/>
          </a:xfrm>
          <a:custGeom>
            <a:avLst/>
            <a:gdLst/>
            <a:ahLst/>
            <a:cxnLst/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20000">
                <a:srgbClr val="008ABF">
                  <a:alpha val="45098"/>
                </a:srgbClr>
              </a:gs>
              <a:gs pos="100000">
                <a:srgbClr val="00A0A8">
                  <a:alpha val="30196"/>
                </a:srgbClr>
              </a:gs>
            </a:gsLst>
            <a:lin ang="16200000"/>
          </a:gra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grpSp>
        <p:nvGrpSpPr>
          <p:cNvPr id="2" name="Group 3"/>
          <p:cNvGrpSpPr/>
          <p:nvPr/>
        </p:nvGrpSpPr>
        <p:grpSpPr>
          <a:xfrm>
            <a:off x="-37800" y="-15120"/>
            <a:ext cx="12248280" cy="1082160"/>
            <a:chOff x="-37800" y="-15120"/>
            <a:chExt cx="12248280" cy="1082160"/>
          </a:xfrm>
        </p:grpSpPr>
        <p:sp>
          <p:nvSpPr>
            <p:cNvPr id="3" name="CustomShape 4"/>
            <p:cNvSpPr/>
            <p:nvPr/>
          </p:nvSpPr>
          <p:spPr>
            <a:xfrm rot="21477600">
              <a:off x="-29880" y="201600"/>
              <a:ext cx="12209760" cy="648000"/>
            </a:xfrm>
            <a:custGeom>
              <a:avLst/>
              <a:gdLst/>
              <a:ahLst/>
              <a:cxnLst/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800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4" name="CustomShape 5"/>
            <p:cNvSpPr/>
            <p:nvPr/>
          </p:nvSpPr>
          <p:spPr>
            <a:xfrm rot="21477600">
              <a:off x="-21960" y="276120"/>
              <a:ext cx="12227040" cy="529200"/>
            </a:xfrm>
            <a:custGeom>
              <a:avLst/>
              <a:gdLst/>
              <a:ahLst/>
              <a:cxnLst/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360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609480" y="1920240"/>
            <a:ext cx="624960" cy="44334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1266480" y="1920240"/>
            <a:ext cx="624960" cy="44334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C6A62-A8AF-F333-0DE9-B84C2048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AFE492EE-4A3F-0077-EF05-93ACAD378B8E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150A8B0-CF7F-DF66-37A9-D59E54BAC892}"/>
              </a:ext>
            </a:extLst>
          </p:cNvPr>
          <p:cNvSpPr/>
          <p:nvPr/>
        </p:nvSpPr>
        <p:spPr>
          <a:xfrm>
            <a:off x="3908107" y="290703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>
                <a:latin typeface="Arial Black"/>
                <a:ea typeface="Arial Black" pitchFamily="34" charset="-122"/>
                <a:cs typeface="Arial Black" pitchFamily="34" charset="-120"/>
              </a:rPr>
              <a:t>CI/CD Pipeline</a:t>
            </a:r>
            <a:endParaRPr lang="en-US" sz="4400">
              <a:latin typeface="Arial Black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DDB7A2E-83BE-C16D-DB86-897A1FF13B88}"/>
              </a:ext>
            </a:extLst>
          </p:cNvPr>
          <p:cNvSpPr/>
          <p:nvPr/>
        </p:nvSpPr>
        <p:spPr>
          <a:xfrm>
            <a:off x="3705701" y="3733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 Code Review &amp; Jenkins Automation</a:t>
            </a:r>
            <a:endParaRPr lang="en-US" sz="22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CB05CC1-7324-588D-8ADA-2C6283B73A63}"/>
              </a:ext>
            </a:extLst>
          </p:cNvPr>
          <p:cNvSpPr/>
          <p:nvPr/>
        </p:nvSpPr>
        <p:spPr>
          <a:xfrm>
            <a:off x="50292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500">
              <a:solidFill>
                <a:srgbClr val="94A3B8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346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1012031"/>
            <a:ext cx="12192000" cy="66437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1961" y="1014889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510064" y="1932146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0064" y="1932146"/>
            <a:ext cx="85344" cy="21945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3904" y="2151602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760" y="2115026"/>
            <a:ext cx="463296" cy="4632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9520" y="2785586"/>
            <a:ext cx="331622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Gerrit?</a:t>
            </a:r>
            <a:endParaRPr lang="en-US" sz="1733"/>
          </a:p>
        </p:txBody>
      </p:sp>
      <p:sp>
        <p:nvSpPr>
          <p:cNvPr id="10" name="Text 7"/>
          <p:cNvSpPr/>
          <p:nvPr/>
        </p:nvSpPr>
        <p:spPr>
          <a:xfrm>
            <a:off x="729520" y="3273266"/>
            <a:ext cx="331622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tool &amp; local server setup</a:t>
            </a:r>
            <a:endParaRPr lang="en-US" sz="1333"/>
          </a:p>
        </p:txBody>
      </p:sp>
      <p:sp>
        <p:nvSpPr>
          <p:cNvPr id="11" name="Shape 8"/>
          <p:cNvSpPr/>
          <p:nvPr/>
        </p:nvSpPr>
        <p:spPr>
          <a:xfrm>
            <a:off x="4313968" y="1932146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13968" y="1932146"/>
            <a:ext cx="85344" cy="21945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57808" y="2151602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7808" y="2163794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02</a:t>
            </a:r>
            <a:endParaRPr lang="en-US" sz="1333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664" y="2115026"/>
            <a:ext cx="463296" cy="4632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33424" y="2785586"/>
            <a:ext cx="331622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Gerrit Access Control</a:t>
            </a:r>
            <a:endParaRPr lang="en-US" sz="1733" err="1"/>
          </a:p>
        </p:txBody>
      </p:sp>
      <p:sp>
        <p:nvSpPr>
          <p:cNvPr id="17" name="Text 13"/>
          <p:cNvSpPr/>
          <p:nvPr/>
        </p:nvSpPr>
        <p:spPr>
          <a:xfrm>
            <a:off x="4533424" y="3273266"/>
            <a:ext cx="331622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+2 approvals, Verified, user permissions</a:t>
            </a:r>
            <a:endParaRPr lang="en-US" sz="1333"/>
          </a:p>
        </p:txBody>
      </p:sp>
      <p:sp>
        <p:nvSpPr>
          <p:cNvPr id="18" name="Shape 14"/>
          <p:cNvSpPr/>
          <p:nvPr/>
        </p:nvSpPr>
        <p:spPr>
          <a:xfrm>
            <a:off x="8117872" y="1932146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17872" y="1932146"/>
            <a:ext cx="85344" cy="21945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61712" y="2151602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61712" y="2163794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03</a:t>
            </a:r>
            <a:endParaRPr lang="en-US" sz="1333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9568" y="2115026"/>
            <a:ext cx="463296" cy="4632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37328" y="2785586"/>
            <a:ext cx="331622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 Workflow</a:t>
            </a:r>
            <a:endParaRPr lang="en-US" sz="1733"/>
          </a:p>
        </p:txBody>
      </p:sp>
      <p:sp>
        <p:nvSpPr>
          <p:cNvPr id="24" name="Text 19"/>
          <p:cNvSpPr/>
          <p:nvPr/>
        </p:nvSpPr>
        <p:spPr>
          <a:xfrm>
            <a:off x="8337328" y="3273266"/>
            <a:ext cx="331622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push, code review &amp; merge process</a:t>
            </a:r>
            <a:endParaRPr lang="en-US" sz="1333"/>
          </a:p>
        </p:txBody>
      </p:sp>
      <p:sp>
        <p:nvSpPr>
          <p:cNvPr id="25" name="Shape 20"/>
          <p:cNvSpPr/>
          <p:nvPr/>
        </p:nvSpPr>
        <p:spPr>
          <a:xfrm>
            <a:off x="510064" y="427301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10064" y="4273010"/>
            <a:ext cx="85344" cy="21945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3904" y="4492466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53904" y="4504658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04</a:t>
            </a:r>
            <a:endParaRPr lang="en-US" sz="1333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760" y="4455890"/>
            <a:ext cx="463296" cy="4632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9520" y="5126450"/>
            <a:ext cx="331622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Jenkins?</a:t>
            </a:r>
            <a:endParaRPr lang="en-US" sz="1733"/>
          </a:p>
        </p:txBody>
      </p:sp>
      <p:sp>
        <p:nvSpPr>
          <p:cNvPr id="31" name="Text 25"/>
          <p:cNvSpPr/>
          <p:nvPr/>
        </p:nvSpPr>
        <p:spPr>
          <a:xfrm>
            <a:off x="729520" y="5614130"/>
            <a:ext cx="331622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 server &amp; architecture</a:t>
            </a:r>
            <a:endParaRPr lang="en-US" sz="1333"/>
          </a:p>
        </p:txBody>
      </p:sp>
      <p:sp>
        <p:nvSpPr>
          <p:cNvPr id="32" name="Shape 26"/>
          <p:cNvSpPr/>
          <p:nvPr/>
        </p:nvSpPr>
        <p:spPr>
          <a:xfrm>
            <a:off x="4313968" y="427301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313968" y="4273010"/>
            <a:ext cx="85344" cy="21945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57808" y="4492466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57808" y="4504658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05</a:t>
            </a:r>
            <a:endParaRPr lang="en-US" sz="1333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5664" y="4455890"/>
            <a:ext cx="463296" cy="4632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533424" y="5126450"/>
            <a:ext cx="331622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 + Jenkins Integration</a:t>
            </a:r>
            <a:endParaRPr lang="en-US" sz="1733"/>
          </a:p>
        </p:txBody>
      </p:sp>
      <p:sp>
        <p:nvSpPr>
          <p:cNvPr id="38" name="Text 31"/>
          <p:cNvSpPr/>
          <p:nvPr/>
        </p:nvSpPr>
        <p:spPr>
          <a:xfrm>
            <a:off x="4533424" y="5614130"/>
            <a:ext cx="331622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builds on code review events</a:t>
            </a:r>
            <a:endParaRPr lang="en-US" sz="1333"/>
          </a:p>
        </p:txBody>
      </p:sp>
      <p:sp>
        <p:nvSpPr>
          <p:cNvPr id="39" name="Shape 32"/>
          <p:cNvSpPr/>
          <p:nvPr/>
        </p:nvSpPr>
        <p:spPr>
          <a:xfrm>
            <a:off x="8117872" y="427301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17872" y="4273010"/>
            <a:ext cx="85344" cy="21945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361712" y="4492466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361712" y="4504658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06</a:t>
            </a:r>
            <a:endParaRPr lang="en-US" sz="1333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9568" y="4455890"/>
            <a:ext cx="463296" cy="4632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337328" y="5126450"/>
            <a:ext cx="331622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Notifications</a:t>
            </a:r>
            <a:endParaRPr lang="en-US" sz="1733"/>
          </a:p>
        </p:txBody>
      </p:sp>
      <p:sp>
        <p:nvSpPr>
          <p:cNvPr id="45" name="Text 37"/>
          <p:cNvSpPr/>
          <p:nvPr/>
        </p:nvSpPr>
        <p:spPr>
          <a:xfrm>
            <a:off x="8337328" y="5614130"/>
            <a:ext cx="331622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on build success/failure</a:t>
            </a:r>
            <a:endParaRPr lang="en-US" sz="1333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8CE0E7D7-A1D0-2DD1-5D53-97AC1B04AE21}"/>
              </a:ext>
            </a:extLst>
          </p:cNvPr>
          <p:cNvSpPr/>
          <p:nvPr/>
        </p:nvSpPr>
        <p:spPr>
          <a:xfrm>
            <a:off x="747807" y="2201270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01</a:t>
            </a:r>
            <a:endParaRPr lang="en-US" sz="133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381C-1923-FCAD-3D09-AC7C251F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BEBD0AE0-2872-9034-C59D-7940D98D3D98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E72B-ABFA-AB48-7B8F-5C6B323271ED}"/>
              </a:ext>
            </a:extLst>
          </p:cNvPr>
          <p:cNvSpPr txBox="1"/>
          <p:nvPr/>
        </p:nvSpPr>
        <p:spPr>
          <a:xfrm>
            <a:off x="693757" y="888905"/>
            <a:ext cx="9030788" cy="16619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atin typeface="Avenir Next LT Pro"/>
              </a:rPr>
              <a:t>What is CI/CD ?</a:t>
            </a:r>
          </a:p>
          <a:p>
            <a:pPr algn="ctr"/>
            <a:endParaRPr lang="en-US" sz="7400">
              <a:latin typeface="Avenir Next LT Pro"/>
            </a:endParaRPr>
          </a:p>
        </p:txBody>
      </p:sp>
      <p:pic>
        <p:nvPicPr>
          <p:cNvPr id="3" name="Picture 2" descr="A black and blue text on a black background&#10;&#10;AI-generated content may be incorrect.">
            <a:extLst>
              <a:ext uri="{FF2B5EF4-FFF2-40B4-BE49-F238E27FC236}">
                <a16:creationId xmlns:a16="http://schemas.microsoft.com/office/drawing/2014/main" id="{E2A0CEC4-E8A0-0F5D-22F7-F4DF097C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3" y="1435894"/>
            <a:ext cx="3212307" cy="2212183"/>
          </a:xfrm>
          <a:prstGeom prst="rect">
            <a:avLst/>
          </a:prstGeom>
        </p:spPr>
      </p:pic>
      <p:pic>
        <p:nvPicPr>
          <p:cNvPr id="4" name="Picture 3" descr="A black box with white text&#10;&#10;AI-generated content may be incorrect.">
            <a:extLst>
              <a:ext uri="{FF2B5EF4-FFF2-40B4-BE49-F238E27FC236}">
                <a16:creationId xmlns:a16="http://schemas.microsoft.com/office/drawing/2014/main" id="{1C91012A-4074-BE9D-AF09-A6202A6F9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1447800"/>
            <a:ext cx="3093245" cy="2200276"/>
          </a:xfrm>
          <a:prstGeom prst="rect">
            <a:avLst/>
          </a:prstGeom>
        </p:spPr>
      </p:pic>
      <p:pic>
        <p:nvPicPr>
          <p:cNvPr id="5" name="Picture 4" descr="A black and orange text&#10;&#10;AI-generated content may be incorrect.">
            <a:extLst>
              <a:ext uri="{FF2B5EF4-FFF2-40B4-BE49-F238E27FC236}">
                <a16:creationId xmlns:a16="http://schemas.microsoft.com/office/drawing/2014/main" id="{1AF8FF92-C7C9-9DA5-E995-4B3AF2A2A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675" y="1435894"/>
            <a:ext cx="3081339" cy="2200276"/>
          </a:xfrm>
          <a:prstGeom prst="rect">
            <a:avLst/>
          </a:prstGeom>
        </p:spPr>
      </p:pic>
      <p:pic>
        <p:nvPicPr>
          <p:cNvPr id="6" name="Picture 5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56EE0AD5-F42F-4E94-168E-C006491D9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62" y="4081463"/>
            <a:ext cx="5867400" cy="778669"/>
          </a:xfrm>
          <a:prstGeom prst="rect">
            <a:avLst/>
          </a:prstGeom>
        </p:spPr>
      </p:pic>
      <p:pic>
        <p:nvPicPr>
          <p:cNvPr id="7" name="Picture 6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210C2313-F9F0-6205-CF4B-113B817C8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361" y="4855369"/>
            <a:ext cx="5879308" cy="754857"/>
          </a:xfrm>
          <a:prstGeom prst="rect">
            <a:avLst/>
          </a:prstGeom>
        </p:spPr>
      </p:pic>
      <p:pic>
        <p:nvPicPr>
          <p:cNvPr id="8" name="Picture 7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191E5077-34A1-1CFB-1170-BD9751E949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987" y="5605462"/>
            <a:ext cx="5879308" cy="754857"/>
          </a:xfrm>
          <a:prstGeom prst="rect">
            <a:avLst/>
          </a:prstGeom>
        </p:spPr>
      </p:pic>
      <p:pic>
        <p:nvPicPr>
          <p:cNvPr id="10" name="Picture 9" descr="A blue and black background with white text&#10;&#10;AI-generated content may be incorrect.">
            <a:extLst>
              <a:ext uri="{FF2B5EF4-FFF2-40B4-BE49-F238E27FC236}">
                <a16:creationId xmlns:a16="http://schemas.microsoft.com/office/drawing/2014/main" id="{01F7460A-C573-EAFB-053E-48B38B314B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6" y="4855368"/>
            <a:ext cx="5855493" cy="754858"/>
          </a:xfrm>
          <a:prstGeom prst="rect">
            <a:avLst/>
          </a:prstGeom>
        </p:spPr>
      </p:pic>
      <p:pic>
        <p:nvPicPr>
          <p:cNvPr id="11" name="Picture 10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BD7F613D-863A-F737-441E-8DAD1C1BCE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175" y="5605461"/>
            <a:ext cx="5867401" cy="754857"/>
          </a:xfrm>
          <a:prstGeom prst="rect">
            <a:avLst/>
          </a:prstGeom>
        </p:spPr>
      </p:pic>
      <p:pic>
        <p:nvPicPr>
          <p:cNvPr id="12" name="Picture 11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FEEEC4B1-FE5E-1996-3D6B-0DF331CA74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3175" y="4164805"/>
            <a:ext cx="5843588" cy="7310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F310E1-FE5B-B9BC-E848-1A81238BED0A}"/>
              </a:ext>
            </a:extLst>
          </p:cNvPr>
          <p:cNvSpPr txBox="1"/>
          <p:nvPr/>
        </p:nvSpPr>
        <p:spPr>
          <a:xfrm>
            <a:off x="285750" y="3667125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>
                <a:latin typeface="Calibri"/>
                <a:ea typeface="Calibri"/>
                <a:cs typeface="Calibri"/>
              </a:rPr>
              <a:t>Prerequisites &amp; Requirements</a:t>
            </a:r>
            <a:r>
              <a:rPr lang="en-US" sz="2400" kern="1200">
                <a:latin typeface="Calibri"/>
                <a:ea typeface="Calibri"/>
                <a:cs typeface="Calibri"/>
              </a:rPr>
              <a:t> </a:t>
            </a:r>
          </a:p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951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656" y="988218"/>
            <a:ext cx="4867274" cy="5619751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5930" y="988218"/>
            <a:ext cx="180309" cy="5619751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696" y="1394936"/>
            <a:ext cx="2140744" cy="2140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9166" y="3900011"/>
            <a:ext cx="4171474" cy="36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533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67"/>
          </a:p>
        </p:txBody>
      </p:sp>
      <p:sp>
        <p:nvSpPr>
          <p:cNvPr id="6" name="Text 3"/>
          <p:cNvSpPr/>
          <p:nvPr/>
        </p:nvSpPr>
        <p:spPr>
          <a:xfrm>
            <a:off x="949166" y="4529137"/>
            <a:ext cx="4171474" cy="1566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</a:t>
            </a:r>
            <a:endParaRPr lang="en-US" sz="4800"/>
          </a:p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Gerrit?</a:t>
            </a:r>
            <a:endParaRPr lang="en-US" sz="4800"/>
          </a:p>
        </p:txBody>
      </p:sp>
      <p:sp>
        <p:nvSpPr>
          <p:cNvPr id="7" name="Text 4"/>
          <p:cNvSpPr/>
          <p:nvPr/>
        </p:nvSpPr>
        <p:spPr>
          <a:xfrm>
            <a:off x="6435566" y="1656873"/>
            <a:ext cx="5235893" cy="364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Web-based code review tool built on top of Git
</a:t>
            </a: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Acts as a gatekeeper between developers and the main repository
</a:t>
            </a: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Every change goes through review before merging
</a:t>
            </a: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Ensures code quality and team collaboration</a:t>
            </a:r>
            <a:endParaRPr lang="en-US" sz="2000"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06D2-BAAF-2CB7-03C9-92026DB0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F7C2FBA6-3E2B-1BA4-46F6-B0F8DC5C33BE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F4B64-D23A-74CC-CBD3-0BA96AD678B3}"/>
              </a:ext>
            </a:extLst>
          </p:cNvPr>
          <p:cNvSpPr txBox="1"/>
          <p:nvPr/>
        </p:nvSpPr>
        <p:spPr>
          <a:xfrm>
            <a:off x="2883040" y="552594"/>
            <a:ext cx="9030788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000">
                <a:latin typeface="Calibri"/>
                <a:ea typeface="Calibri"/>
                <a:cs typeface="Calibri"/>
              </a:rPr>
              <a:t>Gerrit Standalone</a:t>
            </a:r>
          </a:p>
          <a:p>
            <a:endParaRPr lang="en-US" sz="7400">
              <a:latin typeface="Avenir Next LT Pro"/>
            </a:endParaRPr>
          </a:p>
          <a:p>
            <a:pPr algn="ctr"/>
            <a:endParaRPr lang="en-US" sz="7400">
              <a:latin typeface="Avenir Next LT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A157F-91BD-EDF7-4C85-C09A47E7BA6A}"/>
              </a:ext>
            </a:extLst>
          </p:cNvPr>
          <p:cNvSpPr txBox="1"/>
          <p:nvPr/>
        </p:nvSpPr>
        <p:spPr>
          <a:xfrm>
            <a:off x="1556262" y="2121551"/>
            <a:ext cx="4761876" cy="1554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Install Java </a:t>
            </a:r>
          </a:p>
          <a:p>
            <a:endParaRPr lang="en-US" sz="11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#sudo apt update </a:t>
            </a:r>
            <a:endParaRPr lang="en-US" sz="1400"/>
          </a:p>
          <a:p>
            <a:r>
              <a:rPr lang="en-US" sz="1400">
                <a:latin typeface="Calibri"/>
                <a:ea typeface="Calibri"/>
                <a:cs typeface="Calibri"/>
              </a:rPr>
              <a:t>#sudo apt install -y openjdk-21-jdk </a:t>
            </a:r>
          </a:p>
          <a:p>
            <a:r>
              <a:rPr lang="en-US" sz="1400">
                <a:latin typeface="Calibri"/>
                <a:ea typeface="Calibri"/>
                <a:cs typeface="Calibri"/>
              </a:rPr>
              <a:t>#java -version </a:t>
            </a:r>
            <a:endParaRPr lang="en-US" sz="1400"/>
          </a:p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C6D07A-6C49-A669-CFE7-EC11E7AD629E}"/>
              </a:ext>
            </a:extLst>
          </p:cNvPr>
          <p:cNvSpPr txBox="1"/>
          <p:nvPr/>
        </p:nvSpPr>
        <p:spPr>
          <a:xfrm>
            <a:off x="997430" y="1880320"/>
            <a:ext cx="5632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l"/>
            <a:r>
              <a:rPr lang="en-US" b="1"/>
              <a:t>01</a:t>
            </a:r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D4FCEC2-E14B-1944-41E2-5049E117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" y="1747838"/>
            <a:ext cx="5314951" cy="2386014"/>
          </a:xfrm>
          <a:prstGeom prst="rect">
            <a:avLst/>
          </a:prstGeom>
        </p:spPr>
      </p:pic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343E7EA-B81F-0C38-4DE6-35C6291C9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619" y="1724026"/>
            <a:ext cx="5588795" cy="2433640"/>
          </a:xfrm>
          <a:prstGeom prst="rect">
            <a:avLst/>
          </a:prstGeom>
        </p:spPr>
      </p:pic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2C1A02A-AEC2-8979-CD00-5B96B639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8" y="4105275"/>
            <a:ext cx="5314950" cy="2266951"/>
          </a:xfrm>
          <a:prstGeom prst="rect">
            <a:avLst/>
          </a:prstGeom>
        </p:spPr>
      </p:pic>
      <p:pic>
        <p:nvPicPr>
          <p:cNvPr id="21" name="Picture 2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13608BA-E7A4-6A32-48A8-32EA567A3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432" y="4105274"/>
            <a:ext cx="5576887" cy="2266951"/>
          </a:xfrm>
          <a:prstGeom prst="rect">
            <a:avLst/>
          </a:prstGeom>
        </p:spPr>
      </p:pic>
      <p:pic>
        <p:nvPicPr>
          <p:cNvPr id="23" name="Picture 2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FCF8116-2DAF-697F-DFF6-524710766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02" y="4118780"/>
            <a:ext cx="5309975" cy="22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14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093" y="952499"/>
            <a:ext cx="11465721" cy="58102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9586" y="955357"/>
            <a:ext cx="10972800" cy="575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Gerrit as a Local Server</a:t>
            </a:r>
            <a:endParaRPr lang="en-US" sz="29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979772"/>
            <a:ext cx="5498306" cy="476916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7666" y="1551145"/>
            <a:ext cx="5486400" cy="466726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9586" y="1563623"/>
            <a:ext cx="5242560" cy="41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Gerrit Works as Local Server</a:t>
            </a:r>
            <a:endParaRPr lang="en-US" sz="1733"/>
          </a:p>
        </p:txBody>
      </p:sp>
      <p:sp>
        <p:nvSpPr>
          <p:cNvPr id="7" name="Text 5"/>
          <p:cNvSpPr/>
          <p:nvPr/>
        </p:nvSpPr>
        <p:spPr>
          <a:xfrm>
            <a:off x="560546" y="2319813"/>
            <a:ext cx="487680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🔧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109186" y="2284094"/>
            <a:ext cx="4511040" cy="258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109186" y="2696908"/>
            <a:ext cx="4511040" cy="479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Linux server using Java (JDK 11+). Download 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gerrit.war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`java -jar 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gerrit.war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-d /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1333"/>
          </a:p>
        </p:txBody>
      </p:sp>
      <p:sp>
        <p:nvSpPr>
          <p:cNvPr id="10" name="Text 8"/>
          <p:cNvSpPr/>
          <p:nvPr/>
        </p:nvSpPr>
        <p:spPr>
          <a:xfrm>
            <a:off x="560546" y="3392709"/>
            <a:ext cx="487680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🌐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1109186" y="3356990"/>
            <a:ext cx="4511040" cy="258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109186" y="3769804"/>
            <a:ext cx="4511040" cy="479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Accessible at http://your-server:8443 — manage repos, users, and reviews via browser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0546" y="4465605"/>
            <a:ext cx="487680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🔑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109186" y="4429886"/>
            <a:ext cx="4511040" cy="258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Access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109186" y="4842700"/>
            <a:ext cx="4511040" cy="479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push code via SSH on port 29418 — configured during setup</a:t>
            </a:r>
            <a:endParaRPr lang="en-US" sz="1333"/>
          </a:p>
        </p:txBody>
      </p:sp>
      <p:sp>
        <p:nvSpPr>
          <p:cNvPr id="16" name="Text 14"/>
          <p:cNvSpPr/>
          <p:nvPr/>
        </p:nvSpPr>
        <p:spPr>
          <a:xfrm>
            <a:off x="560546" y="5538501"/>
            <a:ext cx="487680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📦</a:t>
            </a:r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109186" y="5502782"/>
            <a:ext cx="4511040" cy="258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109186" y="5915596"/>
            <a:ext cx="4511040" cy="479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Git repositories are stored on the server under /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33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</a:t>
            </a: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/git/</a:t>
            </a:r>
            <a:endParaRPr lang="en-US" sz="1333"/>
          </a:p>
        </p:txBody>
      </p:sp>
      <p:sp>
        <p:nvSpPr>
          <p:cNvPr id="19" name="Shape 17"/>
          <p:cNvSpPr/>
          <p:nvPr/>
        </p:nvSpPr>
        <p:spPr>
          <a:xfrm>
            <a:off x="6109336" y="2039303"/>
            <a:ext cx="5728810" cy="4781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8866" y="1551145"/>
            <a:ext cx="5669280" cy="46672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0786" y="1563623"/>
            <a:ext cx="5425440" cy="41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733"/>
          </a:p>
        </p:txBody>
      </p:sp>
      <p:sp>
        <p:nvSpPr>
          <p:cNvPr id="22" name="Shape 20"/>
          <p:cNvSpPr/>
          <p:nvPr/>
        </p:nvSpPr>
        <p:spPr>
          <a:xfrm>
            <a:off x="6595586" y="2367438"/>
            <a:ext cx="2194560" cy="503873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5586" y="2367438"/>
            <a:ext cx="2194560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1A1A2E"/>
                </a:solidFill>
              </a:rPr>
              <a:t>Developer Workstation</a:t>
            </a:r>
            <a:endParaRPr lang="en-US" sz="1267"/>
          </a:p>
        </p:txBody>
      </p:sp>
      <p:sp>
        <p:nvSpPr>
          <p:cNvPr id="24" name="Shape 22"/>
          <p:cNvSpPr/>
          <p:nvPr/>
        </p:nvSpPr>
        <p:spPr>
          <a:xfrm>
            <a:off x="6595586" y="3732370"/>
            <a:ext cx="2194560" cy="601981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5586" y="3732370"/>
            <a:ext cx="2194560" cy="601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1A1A2E"/>
                </a:solidFill>
              </a:rPr>
              <a:t>Gerrit Server</a:t>
            </a:r>
            <a:endParaRPr lang="en-US" sz="1267"/>
          </a:p>
          <a:p>
            <a:pPr marL="0" indent="0" algn="ctr">
              <a:buNone/>
            </a:pPr>
            <a:r>
              <a:rPr lang="en-US" sz="1250" b="1">
                <a:solidFill>
                  <a:srgbClr val="1A1A2E"/>
                </a:solidFill>
              </a:rPr>
              <a:t>(SSH :29418  HTTP :8443)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9155906" y="3732370"/>
            <a:ext cx="2316480" cy="601981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5906" y="3732370"/>
            <a:ext cx="2316480" cy="601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1A1A2E"/>
                </a:solidFill>
              </a:rPr>
              <a:t>Git Repository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1A1A2E"/>
                </a:solidFill>
              </a:rPr>
              <a:t>(Bare Clone)</a:t>
            </a:r>
            <a:endParaRPr lang="en-US" sz="1267"/>
          </a:p>
        </p:txBody>
      </p:sp>
      <p:sp>
        <p:nvSpPr>
          <p:cNvPr id="28" name="Shape 26"/>
          <p:cNvSpPr/>
          <p:nvPr/>
        </p:nvSpPr>
        <p:spPr>
          <a:xfrm>
            <a:off x="9155906" y="2367438"/>
            <a:ext cx="2316480" cy="503873"/>
          </a:xfrm>
          <a:prstGeom prst="rect">
            <a:avLst/>
          </a:prstGeom>
          <a:solidFill>
            <a:srgbClr val="FDF4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55906" y="2367438"/>
            <a:ext cx="2316480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1A1A2E"/>
                </a:solidFill>
              </a:rPr>
              <a:t>Reviewer / Approver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1A1A2E"/>
                </a:solidFill>
              </a:rPr>
              <a:t>(Web UI)</a:t>
            </a:r>
            <a:endParaRPr lang="en-US" sz="1267"/>
          </a:p>
        </p:txBody>
      </p:sp>
      <p:sp>
        <p:nvSpPr>
          <p:cNvPr id="30" name="Shape 28"/>
          <p:cNvSpPr/>
          <p:nvPr/>
        </p:nvSpPr>
        <p:spPr>
          <a:xfrm>
            <a:off x="7692866" y="3037998"/>
            <a:ext cx="12192" cy="503873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90146" y="3932015"/>
            <a:ext cx="365760" cy="12192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72386" y="3037998"/>
            <a:ext cx="12192" cy="503873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5732" y="3167538"/>
            <a:ext cx="1341120" cy="233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>
                <a:solidFill>
                  <a:srgbClr val="00BFAE"/>
                </a:solidFill>
              </a:rPr>
              <a:t>git push</a:t>
            </a:r>
            <a:endParaRPr lang="en-US" sz="1133"/>
          </a:p>
        </p:txBody>
      </p:sp>
      <p:sp>
        <p:nvSpPr>
          <p:cNvPr id="34" name="Text 32"/>
          <p:cNvSpPr/>
          <p:nvPr/>
        </p:nvSpPr>
        <p:spPr>
          <a:xfrm>
            <a:off x="8791575" y="3737229"/>
            <a:ext cx="853440" cy="208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475569"/>
                </a:solidFill>
              </a:rPr>
              <a:t>stores</a:t>
            </a:r>
            <a:endParaRPr lang="en-US" sz="1067"/>
          </a:p>
        </p:txBody>
      </p:sp>
      <p:sp>
        <p:nvSpPr>
          <p:cNvPr id="35" name="Shape 33"/>
          <p:cNvSpPr/>
          <p:nvPr/>
        </p:nvSpPr>
        <p:spPr>
          <a:xfrm>
            <a:off x="6290786" y="5152548"/>
            <a:ext cx="5303520" cy="143732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2706" y="5202173"/>
            <a:ext cx="5059680" cy="129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00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 Gerrit server
</a:t>
            </a:r>
            <a:r>
              <a:rPr lang="en-US" sz="1267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</a:t>
            </a:r>
            <a:r>
              <a:rPr lang="en-US" sz="1267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gerrit.war</a:t>
            </a:r>
            <a:r>
              <a:rPr lang="en-US" sz="1267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67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1267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/</a:t>
            </a:r>
            <a:r>
              <a:rPr lang="en-US" sz="1267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srv</a:t>
            </a:r>
            <a:r>
              <a:rPr lang="en-US" sz="1267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67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gerrit</a:t>
            </a:r>
            <a:r>
              <a:rPr lang="en-US" sz="1267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7" b="1">
                <a:solidFill>
                  <a:srgbClr val="00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the server
</a:t>
            </a:r>
            <a:r>
              <a:rPr lang="en-US" sz="1267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/srv/gerrit/bin/gerrit.sh start</a:t>
            </a:r>
            <a:endParaRPr lang="en-US" sz="126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3385" y="1727740"/>
            <a:ext cx="11460480" cy="80810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171" y="1826990"/>
            <a:ext cx="609600" cy="6096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3890" y="1862709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+2</a:t>
            </a:r>
            <a:endParaRPr lang="en-US" sz="1867"/>
          </a:p>
        </p:txBody>
      </p:sp>
      <p:sp>
        <p:nvSpPr>
          <p:cNvPr id="7" name="Text 5"/>
          <p:cNvSpPr/>
          <p:nvPr/>
        </p:nvSpPr>
        <p:spPr>
          <a:xfrm>
            <a:off x="1388745" y="1753838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Owner / Tech Lead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388745" y="2119598"/>
            <a:ext cx="1011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code for merge. Only senior members can grant +2. This is the final approval gate.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365760" y="2657760"/>
            <a:ext cx="11460480" cy="78429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5105"/>
            <a:ext cx="609600" cy="609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510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+1</a:t>
            </a:r>
            <a:endParaRPr lang="en-US" sz="1867"/>
          </a:p>
        </p:txBody>
      </p:sp>
      <p:sp>
        <p:nvSpPr>
          <p:cNvPr id="12" name="Text 10"/>
          <p:cNvSpPr/>
          <p:nvPr/>
        </p:nvSpPr>
        <p:spPr>
          <a:xfrm>
            <a:off x="1341120" y="2660047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/ Developer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341120" y="3025807"/>
            <a:ext cx="1011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looks good but needs another reviewer. Developer peers can give +1 — not sufficient to merge.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365760" y="3540157"/>
            <a:ext cx="11460480" cy="772383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03688"/>
            <a:ext cx="609600" cy="609600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03688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0</a:t>
            </a:r>
            <a:endParaRPr lang="en-US" sz="1867"/>
          </a:p>
        </p:txBody>
      </p:sp>
      <p:sp>
        <p:nvSpPr>
          <p:cNvPr id="17" name="Text 15"/>
          <p:cNvSpPr/>
          <p:nvPr/>
        </p:nvSpPr>
        <p:spPr>
          <a:xfrm>
            <a:off x="1341120" y="3530536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341120" y="3896296"/>
            <a:ext cx="1011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but no opinion or in progress. Used when still looking at the change.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365760" y="4398741"/>
            <a:ext cx="11460480" cy="77238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462272"/>
            <a:ext cx="609600" cy="609600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62272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-1</a:t>
            </a:r>
            <a:endParaRPr lang="en-US" sz="1867"/>
          </a:p>
        </p:txBody>
      </p:sp>
      <p:sp>
        <p:nvSpPr>
          <p:cNvPr id="22" name="Text 20"/>
          <p:cNvSpPr/>
          <p:nvPr/>
        </p:nvSpPr>
        <p:spPr>
          <a:xfrm>
            <a:off x="1341120" y="438912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341120" y="4754880"/>
            <a:ext cx="1011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has issues. Would prefer it not to be merged but won't block if others approve.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401479" y="5245418"/>
            <a:ext cx="11460480" cy="784289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32762"/>
            <a:ext cx="609600" cy="60960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332762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-2</a:t>
            </a:r>
            <a:endParaRPr lang="en-US" sz="1867"/>
          </a:p>
        </p:txBody>
      </p:sp>
      <p:sp>
        <p:nvSpPr>
          <p:cNvPr id="27" name="Text 25"/>
          <p:cNvSpPr/>
          <p:nvPr/>
        </p:nvSpPr>
        <p:spPr>
          <a:xfrm>
            <a:off x="1376839" y="5247704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Owner / Admin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1376839" y="5613464"/>
            <a:ext cx="1011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block. Change cannot be merged until the -2 is removed. Used for serious issues.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365760" y="6153627"/>
            <a:ext cx="11460480" cy="268224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600" y="6177724"/>
            <a:ext cx="10972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Verified (+1 / -1):  Set automatically by Jenkins CI — confirms the build passed or failed before reviewers see it</a:t>
            </a:r>
            <a:endParaRPr lang="en-US" sz="1333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C4EA1CEF-B266-3B79-E8FE-990AB901CF17}"/>
              </a:ext>
            </a:extLst>
          </p:cNvPr>
          <p:cNvSpPr/>
          <p:nvPr/>
        </p:nvSpPr>
        <p:spPr>
          <a:xfrm>
            <a:off x="416718" y="928687"/>
            <a:ext cx="11453814" cy="60483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B4E81736-67BE-2947-E9CC-F0A1FEAB3F6E}"/>
              </a:ext>
            </a:extLst>
          </p:cNvPr>
          <p:cNvSpPr/>
          <p:nvPr/>
        </p:nvSpPr>
        <p:spPr>
          <a:xfrm>
            <a:off x="651509" y="936784"/>
            <a:ext cx="7991476" cy="598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Gerrit Access Control &amp; Permissions</a:t>
            </a:r>
            <a:endParaRPr 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7CAE9B9-D3E4-AF7D-F90E-EB5766ACA023}"/>
              </a:ext>
            </a:extLst>
          </p:cNvPr>
          <p:cNvSpPr/>
          <p:nvPr/>
        </p:nvSpPr>
        <p:spPr>
          <a:xfrm>
            <a:off x="821055" y="497967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>
                <a:latin typeface="Calibri"/>
                <a:ea typeface="Calibri"/>
                <a:cs typeface="Calibri"/>
              </a:rPr>
              <a:t>Gerrit Workflow:</a:t>
            </a:r>
          </a:p>
          <a:p>
            <a:r>
              <a:rPr lang="en-US" sz="4400">
                <a:latin typeface="Calibri"/>
                <a:ea typeface="Calibri"/>
                <a:cs typeface="Calibri"/>
              </a:rPr>
              <a:t>Clone → Push → Review→ Merge</a:t>
            </a:r>
          </a:p>
        </p:txBody>
      </p:sp>
    </p:spTree>
    <p:extLst>
      <p:ext uri="{BB962C8B-B14F-4D97-AF65-F5344CB8AC3E}">
        <p14:creationId xmlns:p14="http://schemas.microsoft.com/office/powerpoint/2010/main" val="184896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2192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800" y="1072896"/>
            <a:ext cx="5608320" cy="2657856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4800" y="1072896"/>
            <a:ext cx="560832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1104" y="1158240"/>
            <a:ext cx="365760" cy="365760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104" y="117043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1</a:t>
            </a:r>
            <a:endParaRPr lang="en-US" sz="1333"/>
          </a:p>
        </p:txBody>
      </p:sp>
      <p:sp>
        <p:nvSpPr>
          <p:cNvPr id="8" name="Text 6"/>
          <p:cNvSpPr/>
          <p:nvPr/>
        </p:nvSpPr>
        <p:spPr>
          <a:xfrm>
            <a:off x="914400" y="1146048"/>
            <a:ext cx="4815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Repository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26720" y="1706880"/>
            <a:ext cx="5364480" cy="1072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4256" y="1743456"/>
            <a:ext cx="516940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ssh://user@gerrit-server:29418/project.git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project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review -s   # installs commit-msg hook</a:t>
            </a:r>
            <a:endParaRPr lang="en-US" sz="1133"/>
          </a:p>
        </p:txBody>
      </p:sp>
      <p:sp>
        <p:nvSpPr>
          <p:cNvPr id="11" name="Text 9"/>
          <p:cNvSpPr/>
          <p:nvPr/>
        </p:nvSpPr>
        <p:spPr>
          <a:xfrm>
            <a:off x="426720" y="2852928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clones the project via SSH. The commit-msg hook adds a Change-Id to every commit automatically.</a:t>
            </a:r>
            <a:endParaRPr lang="en-US" sz="1267"/>
          </a:p>
        </p:txBody>
      </p:sp>
      <p:sp>
        <p:nvSpPr>
          <p:cNvPr id="12" name="Shape 10"/>
          <p:cNvSpPr/>
          <p:nvPr/>
        </p:nvSpPr>
        <p:spPr>
          <a:xfrm>
            <a:off x="6242304" y="1072896"/>
            <a:ext cx="5608320" cy="265785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2304" y="1072896"/>
            <a:ext cx="560832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8608" y="1158240"/>
            <a:ext cx="365760" cy="365760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608" y="117043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2</a:t>
            </a:r>
            <a:endParaRPr lang="en-US" sz="1333"/>
          </a:p>
        </p:txBody>
      </p:sp>
      <p:sp>
        <p:nvSpPr>
          <p:cNvPr id="16" name="Text 14"/>
          <p:cNvSpPr/>
          <p:nvPr/>
        </p:nvSpPr>
        <p:spPr>
          <a:xfrm>
            <a:off x="6851904" y="1146048"/>
            <a:ext cx="4815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&amp; Push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364224" y="1706880"/>
            <a:ext cx="5364480" cy="1072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760" y="1743456"/>
            <a:ext cx="516940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feature/my-feature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make code changes ...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&amp;&amp; git commit -m "feat: my change"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HEAD:refs/for/main</a:t>
            </a:r>
            <a:endParaRPr lang="en-US" sz="1133"/>
          </a:p>
        </p:txBody>
      </p:sp>
      <p:sp>
        <p:nvSpPr>
          <p:cNvPr id="19" name="Text 17"/>
          <p:cNvSpPr/>
          <p:nvPr/>
        </p:nvSpPr>
        <p:spPr>
          <a:xfrm>
            <a:off x="6364224" y="2852928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refs/for/&lt;branch&gt; — this creates a new Change in Gerrit for review, NOT a direct merge.</a:t>
            </a:r>
            <a:endParaRPr lang="en-US" sz="1267"/>
          </a:p>
        </p:txBody>
      </p:sp>
      <p:sp>
        <p:nvSpPr>
          <p:cNvPr id="20" name="Shape 18"/>
          <p:cNvSpPr/>
          <p:nvPr/>
        </p:nvSpPr>
        <p:spPr>
          <a:xfrm>
            <a:off x="304800" y="3901440"/>
            <a:ext cx="5608320" cy="2657856"/>
          </a:xfrm>
          <a:prstGeom prst="rect">
            <a:avLst/>
          </a:prstGeom>
          <a:solidFill>
            <a:srgbClr val="FDF4FF"/>
          </a:solidFill>
          <a:ln w="12700">
            <a:solidFill>
              <a:srgbClr val="D8B4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4800" y="3901440"/>
            <a:ext cx="560832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104" y="3986784"/>
            <a:ext cx="365760" cy="365760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104" y="3998976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3</a:t>
            </a:r>
            <a:endParaRPr lang="en-US" sz="1333"/>
          </a:p>
        </p:txBody>
      </p:sp>
      <p:sp>
        <p:nvSpPr>
          <p:cNvPr id="24" name="Text 22"/>
          <p:cNvSpPr/>
          <p:nvPr/>
        </p:nvSpPr>
        <p:spPr>
          <a:xfrm>
            <a:off x="914400" y="3974592"/>
            <a:ext cx="4815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Approval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426720" y="4535424"/>
            <a:ext cx="5364480" cy="1072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4256" y="4572000"/>
            <a:ext cx="516940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Reviewers open Gerrit Web UI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Give Code-Review: +2  (approve)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Jenkins gives Verified: +1  (build pass)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checks must pass</a:t>
            </a:r>
            <a:endParaRPr lang="en-US" sz="1133"/>
          </a:p>
        </p:txBody>
      </p:sp>
      <p:sp>
        <p:nvSpPr>
          <p:cNvPr id="27" name="Text 25"/>
          <p:cNvSpPr/>
          <p:nvPr/>
        </p:nvSpPr>
        <p:spPr>
          <a:xfrm>
            <a:off x="426720" y="5681472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gives +2 on Code-Review. Jenkins auto-gives Verified +1 after build. Both needed to merge.</a:t>
            </a:r>
            <a:endParaRPr lang="en-US" sz="1267"/>
          </a:p>
        </p:txBody>
      </p:sp>
      <p:sp>
        <p:nvSpPr>
          <p:cNvPr id="28" name="Shape 26"/>
          <p:cNvSpPr/>
          <p:nvPr/>
        </p:nvSpPr>
        <p:spPr>
          <a:xfrm>
            <a:off x="6242304" y="3901440"/>
            <a:ext cx="5608320" cy="265785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42304" y="3901440"/>
            <a:ext cx="560832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8608" y="3986784"/>
            <a:ext cx="365760" cy="365760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8608" y="3998976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4</a:t>
            </a:r>
            <a:endParaRPr lang="en-US" sz="1333"/>
          </a:p>
        </p:txBody>
      </p:sp>
      <p:sp>
        <p:nvSpPr>
          <p:cNvPr id="32" name="Text 30"/>
          <p:cNvSpPr/>
          <p:nvPr/>
        </p:nvSpPr>
        <p:spPr>
          <a:xfrm>
            <a:off x="6851904" y="3974592"/>
            <a:ext cx="4815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Merge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6364224" y="4535424"/>
            <a:ext cx="5364480" cy="1072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1760" y="4572000"/>
            <a:ext cx="516940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Gerrit Web UI, click SUBMIT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Gerrit merges into main branch</a:t>
            </a:r>
            <a:endParaRPr lang="en-US" sz="1133"/>
          </a:p>
          <a:p>
            <a:pPr marL="0" indent="0">
              <a:buNone/>
            </a:pPr>
            <a:r>
              <a:rPr lang="en-US" sz="113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status → MERGED</a:t>
            </a:r>
            <a:endParaRPr lang="en-US" sz="1133"/>
          </a:p>
        </p:txBody>
      </p:sp>
      <p:sp>
        <p:nvSpPr>
          <p:cNvPr id="35" name="Text 33"/>
          <p:cNvSpPr/>
          <p:nvPr/>
        </p:nvSpPr>
        <p:spPr>
          <a:xfrm>
            <a:off x="6364224" y="5681472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votes are satisfied, the Submit button is activated. Project Owner or Author clicks Submit to merge.</a:t>
            </a:r>
            <a:endParaRPr lang="en-US" sz="1267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15102" y="1000123"/>
            <a:ext cx="5474492" cy="552450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30041" y="988218"/>
            <a:ext cx="108875" cy="55364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97280"/>
            <a:ext cx="2438400" cy="2438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377952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533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67"/>
          </a:p>
        </p:txBody>
      </p:sp>
      <p:sp>
        <p:nvSpPr>
          <p:cNvPr id="6" name="Text 3"/>
          <p:cNvSpPr/>
          <p:nvPr/>
        </p:nvSpPr>
        <p:spPr>
          <a:xfrm>
            <a:off x="6949440" y="4206240"/>
            <a:ext cx="487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</a:t>
            </a:r>
            <a:endParaRPr lang="en-US" sz="4800"/>
          </a:p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Jenkins?</a:t>
            </a:r>
            <a:endParaRPr lang="en-US" sz="4800"/>
          </a:p>
        </p:txBody>
      </p:sp>
      <p:sp>
        <p:nvSpPr>
          <p:cNvPr id="7" name="Text 4"/>
          <p:cNvSpPr/>
          <p:nvPr/>
        </p:nvSpPr>
        <p:spPr>
          <a:xfrm>
            <a:off x="487680" y="1219200"/>
            <a:ext cx="597408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Open-source automation server for CI/CD pipelines
</a:t>
            </a: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Builds, tests, and deploys code automatically on every change
</a:t>
            </a: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Integrates with hundreds of tools — Git, Gerrit, Docker, 
</a:t>
            </a:r>
            <a:r>
              <a:rPr lang="en-US" sz="2000" b="1">
                <a:latin typeface="Calibri"/>
                <a:ea typeface="Calibri"/>
                <a:cs typeface="Calibri"/>
              </a:rPr>
              <a:t>▶  </a:t>
            </a:r>
            <a:r>
              <a:rPr lang="en-US" sz="2000">
                <a:latin typeface="Calibri"/>
                <a:ea typeface="Calibri"/>
                <a:cs typeface="Calibri"/>
              </a:rPr>
              <a:t>Pipeline as Code using </a:t>
            </a:r>
            <a:r>
              <a:rPr lang="en-US" sz="2000" err="1">
                <a:latin typeface="Calibri"/>
                <a:ea typeface="Calibri"/>
                <a:cs typeface="Calibri"/>
              </a:rPr>
              <a:t>Jenkinsfile</a:t>
            </a:r>
            <a:r>
              <a:rPr lang="en-US" sz="2000">
                <a:latin typeface="Calibri"/>
                <a:ea typeface="Calibri"/>
                <a:cs typeface="Calibri"/>
              </a:rPr>
              <a:t> (Groovy DSL)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72CD-BDE4-1D12-3881-2E1C2FF5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71C243BC-72AF-CCD2-FC67-8CDF9A3C8B03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06CD5-00AA-F1A6-F733-4988231317E4}"/>
              </a:ext>
            </a:extLst>
          </p:cNvPr>
          <p:cNvSpPr txBox="1"/>
          <p:nvPr/>
        </p:nvSpPr>
        <p:spPr>
          <a:xfrm>
            <a:off x="555775" y="2269702"/>
            <a:ext cx="6003664" cy="30008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300" b="1">
                <a:latin typeface="Avenir Next LT Pro"/>
              </a:rPr>
              <a:t>Jenkins</a:t>
            </a:r>
          </a:p>
          <a:p>
            <a:r>
              <a:rPr lang="en-US" sz="6300" b="1">
                <a:latin typeface="Avenir Next LT Pro"/>
              </a:rPr>
              <a:t>Installation</a:t>
            </a:r>
          </a:p>
          <a:p>
            <a:pPr algn="ctr"/>
            <a:endParaRPr lang="en-US" sz="6300" b="1">
              <a:latin typeface="Avenir Next LT Pro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3DFAAF6-AA0B-B82D-D75B-5271DF83B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29" y="769143"/>
            <a:ext cx="6862762" cy="5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2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1714C-7617-69DE-436A-1D9ADE543EA7}"/>
              </a:ext>
            </a:extLst>
          </p:cNvPr>
          <p:cNvSpPr txBox="1"/>
          <p:nvPr/>
        </p:nvSpPr>
        <p:spPr>
          <a:xfrm>
            <a:off x="881062" y="5143500"/>
            <a:ext cx="60960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i="0" u="none" strike="noStrike" baseline="0">
                <a:latin typeface="Calibri"/>
                <a:ea typeface="Calibri"/>
                <a:cs typeface="Calibri"/>
              </a:rPr>
              <a:t>How Jenkins Works</a:t>
            </a:r>
            <a:endParaRPr lang="en-US" sz="4400">
              <a:latin typeface="Calibri"/>
              <a:ea typeface="Calibri"/>
              <a:cs typeface="Calibri"/>
            </a:endParaRPr>
          </a:p>
          <a:p>
            <a:pPr algn="ctr"/>
            <a:endParaRPr lang="en-US" sz="4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7181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2192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9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19200"/>
            <a:ext cx="1706880" cy="1584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41120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11680"/>
            <a:ext cx="170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67"/>
          </a:p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67"/>
          </a:p>
        </p:txBody>
      </p:sp>
      <p:sp>
        <p:nvSpPr>
          <p:cNvPr id="7" name="Shape 4"/>
          <p:cNvSpPr/>
          <p:nvPr/>
        </p:nvSpPr>
        <p:spPr>
          <a:xfrm>
            <a:off x="2255520" y="2011680"/>
            <a:ext cx="64008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926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94A3B8"/>
                </a:solidFill>
              </a:rPr>
              <a:t>▶</a:t>
            </a:r>
            <a:endParaRPr lang="en-US" sz="1467"/>
          </a:p>
        </p:txBody>
      </p:sp>
      <p:sp>
        <p:nvSpPr>
          <p:cNvPr id="9" name="Shape 6"/>
          <p:cNvSpPr/>
          <p:nvPr/>
        </p:nvSpPr>
        <p:spPr>
          <a:xfrm>
            <a:off x="2895600" y="1219200"/>
            <a:ext cx="1706880" cy="1584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40" y="1341120"/>
            <a:ext cx="609600" cy="609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95600" y="2011680"/>
            <a:ext cx="170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67"/>
          </a:p>
        </p:txBody>
      </p:sp>
      <p:sp>
        <p:nvSpPr>
          <p:cNvPr id="12" name="Shape 8"/>
          <p:cNvSpPr/>
          <p:nvPr/>
        </p:nvSpPr>
        <p:spPr>
          <a:xfrm>
            <a:off x="4602480" y="2011680"/>
            <a:ext cx="64008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39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94A3B8"/>
                </a:solidFill>
              </a:rPr>
              <a:t>▶</a:t>
            </a:r>
            <a:endParaRPr lang="en-US" sz="1467"/>
          </a:p>
        </p:txBody>
      </p:sp>
      <p:sp>
        <p:nvSpPr>
          <p:cNvPr id="14" name="Shape 10"/>
          <p:cNvSpPr/>
          <p:nvPr/>
        </p:nvSpPr>
        <p:spPr>
          <a:xfrm>
            <a:off x="5242560" y="1219200"/>
            <a:ext cx="1706880" cy="1584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1341120"/>
            <a:ext cx="609600" cy="609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42560" y="2011680"/>
            <a:ext cx="170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67"/>
          </a:p>
        </p:txBody>
      </p:sp>
      <p:sp>
        <p:nvSpPr>
          <p:cNvPr id="17" name="Shape 12"/>
          <p:cNvSpPr/>
          <p:nvPr/>
        </p:nvSpPr>
        <p:spPr>
          <a:xfrm>
            <a:off x="6949440" y="2011680"/>
            <a:ext cx="64008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866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94A3B8"/>
                </a:solidFill>
              </a:rPr>
              <a:t>▶</a:t>
            </a:r>
            <a:endParaRPr lang="en-US" sz="1467"/>
          </a:p>
        </p:txBody>
      </p:sp>
      <p:sp>
        <p:nvSpPr>
          <p:cNvPr id="19" name="Shape 14"/>
          <p:cNvSpPr/>
          <p:nvPr/>
        </p:nvSpPr>
        <p:spPr>
          <a:xfrm>
            <a:off x="7589520" y="1219200"/>
            <a:ext cx="1706880" cy="1584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1341120"/>
            <a:ext cx="609600" cy="609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2011680"/>
            <a:ext cx="170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67"/>
          </a:p>
        </p:txBody>
      </p:sp>
      <p:sp>
        <p:nvSpPr>
          <p:cNvPr id="22" name="Shape 16"/>
          <p:cNvSpPr/>
          <p:nvPr/>
        </p:nvSpPr>
        <p:spPr>
          <a:xfrm>
            <a:off x="9296400" y="2011680"/>
            <a:ext cx="64008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4335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94A3B8"/>
                </a:solidFill>
              </a:rPr>
              <a:t>▶</a:t>
            </a:r>
            <a:endParaRPr lang="en-US" sz="1467"/>
          </a:p>
        </p:txBody>
      </p:sp>
      <p:sp>
        <p:nvSpPr>
          <p:cNvPr id="24" name="Shape 18"/>
          <p:cNvSpPr/>
          <p:nvPr/>
        </p:nvSpPr>
        <p:spPr>
          <a:xfrm>
            <a:off x="9936480" y="1219200"/>
            <a:ext cx="1706880" cy="158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5120" y="1341120"/>
            <a:ext cx="609600" cy="609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36480" y="2011680"/>
            <a:ext cx="170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67"/>
          </a:p>
        </p:txBody>
      </p:sp>
      <p:sp>
        <p:nvSpPr>
          <p:cNvPr id="27" name="Text 20"/>
          <p:cNvSpPr/>
          <p:nvPr/>
        </p:nvSpPr>
        <p:spPr>
          <a:xfrm>
            <a:off x="365760" y="30480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(Pipeline as Code)</a:t>
            </a:r>
            <a:endParaRPr lang="en-US" sz="1733"/>
          </a:p>
        </p:txBody>
      </p:sp>
      <p:sp>
        <p:nvSpPr>
          <p:cNvPr id="28" name="Shape 21"/>
          <p:cNvSpPr/>
          <p:nvPr/>
        </p:nvSpPr>
        <p:spPr>
          <a:xfrm>
            <a:off x="365760" y="3474720"/>
            <a:ext cx="5486400" cy="3169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3572256"/>
            <a:ext cx="5120640" cy="297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
</a:t>
            </a: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
  stages {
    stage(</a:t>
            </a:r>
            <a:r>
              <a:rPr lang="en-US" sz="1267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    steps {
        sh </a:t>
            </a:r>
            <a:r>
              <a:rPr lang="en-US" sz="1267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'mvn clean install'
</a:t>
            </a: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67"/>
          </a:p>
          <a:p>
            <a:pPr marL="0" indent="0">
              <a:buNone/>
            </a:pP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67"/>
          </a:p>
          <a:p>
            <a:pPr marL="0" indent="0">
              <a:buNone/>
            </a:pP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</a:t>
            </a:r>
            <a:endParaRPr lang="en-US" sz="1267"/>
          </a:p>
          <a:p>
            <a:pPr marL="0" indent="0">
              <a:buNone/>
            </a:pPr>
            <a:r>
              <a:rPr lang="en-US" sz="1267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    steps { sh </a:t>
            </a:r>
            <a:r>
              <a:rPr lang="en-US" sz="1267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'mvn test'</a:t>
            </a: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67"/>
          </a:p>
          <a:p>
            <a:pPr marL="0" indent="0">
              <a:buNone/>
            </a:pP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67"/>
          </a:p>
          <a:p>
            <a:pPr marL="0" indent="0">
              <a:buNone/>
            </a:pP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67"/>
          </a:p>
          <a:p>
            <a:pPr marL="0" indent="0">
              <a:buNone/>
            </a:pPr>
            <a:r>
              <a:rPr lang="en-US" sz="1267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67"/>
          </a:p>
        </p:txBody>
      </p:sp>
      <p:sp>
        <p:nvSpPr>
          <p:cNvPr id="30" name="Text 23"/>
          <p:cNvSpPr/>
          <p:nvPr/>
        </p:nvSpPr>
        <p:spPr>
          <a:xfrm>
            <a:off x="6217920" y="3048000"/>
            <a:ext cx="5608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Jenkins Features</a:t>
            </a:r>
            <a:endParaRPr lang="en-US" sz="1733"/>
          </a:p>
        </p:txBody>
      </p:sp>
      <p:sp>
        <p:nvSpPr>
          <p:cNvPr id="31" name="Shape 24"/>
          <p:cNvSpPr/>
          <p:nvPr/>
        </p:nvSpPr>
        <p:spPr>
          <a:xfrm>
            <a:off x="6217920" y="3511296"/>
            <a:ext cx="56083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315456" y="3572256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000000"/>
                </a:solidFill>
              </a:rPr>
              <a:t>🔌</a:t>
            </a:r>
            <a:endParaRPr lang="en-US" sz="1867"/>
          </a:p>
        </p:txBody>
      </p:sp>
      <p:sp>
        <p:nvSpPr>
          <p:cNvPr id="33" name="Text 26"/>
          <p:cNvSpPr/>
          <p:nvPr/>
        </p:nvSpPr>
        <p:spPr>
          <a:xfrm>
            <a:off x="6766560" y="359664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Ecosystem:  </a:t>
            </a:r>
            <a:endParaRPr lang="en-US" sz="1333"/>
          </a:p>
        </p:txBody>
      </p:sp>
      <p:sp>
        <p:nvSpPr>
          <p:cNvPr id="34" name="Text 27"/>
          <p:cNvSpPr/>
          <p:nvPr/>
        </p:nvSpPr>
        <p:spPr>
          <a:xfrm>
            <a:off x="8473440" y="359664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1800+ plugins for tools, SCM, notification</a:t>
            </a:r>
            <a:endParaRPr lang="en-US" sz="1333"/>
          </a:p>
        </p:txBody>
      </p:sp>
      <p:sp>
        <p:nvSpPr>
          <p:cNvPr id="35" name="Shape 28"/>
          <p:cNvSpPr/>
          <p:nvPr/>
        </p:nvSpPr>
        <p:spPr>
          <a:xfrm>
            <a:off x="6217920" y="4120896"/>
            <a:ext cx="56083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315456" y="4181856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000000"/>
                </a:solidFill>
              </a:rPr>
              <a:t>🏗️</a:t>
            </a:r>
            <a:endParaRPr lang="en-US" sz="1867"/>
          </a:p>
        </p:txBody>
      </p:sp>
      <p:sp>
        <p:nvSpPr>
          <p:cNvPr id="37" name="Text 30"/>
          <p:cNvSpPr/>
          <p:nvPr/>
        </p:nvSpPr>
        <p:spPr>
          <a:xfrm>
            <a:off x="6766560" y="420624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Master-Agent:  </a:t>
            </a:r>
            <a:endParaRPr lang="en-US" sz="1333"/>
          </a:p>
        </p:txBody>
      </p:sp>
      <p:sp>
        <p:nvSpPr>
          <p:cNvPr id="38" name="Text 31"/>
          <p:cNvSpPr/>
          <p:nvPr/>
        </p:nvSpPr>
        <p:spPr>
          <a:xfrm>
            <a:off x="8473440" y="420624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builds across multiple machines</a:t>
            </a:r>
            <a:endParaRPr lang="en-US" sz="1333"/>
          </a:p>
        </p:txBody>
      </p:sp>
      <p:sp>
        <p:nvSpPr>
          <p:cNvPr id="39" name="Shape 32"/>
          <p:cNvSpPr/>
          <p:nvPr/>
        </p:nvSpPr>
        <p:spPr>
          <a:xfrm>
            <a:off x="6217920" y="4730496"/>
            <a:ext cx="56083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315456" y="4791456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000000"/>
                </a:solidFill>
              </a:rPr>
              <a:t>📜</a:t>
            </a:r>
            <a:endParaRPr lang="en-US" sz="1867"/>
          </a:p>
        </p:txBody>
      </p:sp>
      <p:sp>
        <p:nvSpPr>
          <p:cNvPr id="41" name="Text 34"/>
          <p:cNvSpPr/>
          <p:nvPr/>
        </p:nvSpPr>
        <p:spPr>
          <a:xfrm>
            <a:off x="6766560" y="481584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Code:  </a:t>
            </a:r>
            <a:endParaRPr lang="en-US" sz="1333"/>
          </a:p>
        </p:txBody>
      </p:sp>
      <p:sp>
        <p:nvSpPr>
          <p:cNvPr id="42" name="Text 35"/>
          <p:cNvSpPr/>
          <p:nvPr/>
        </p:nvSpPr>
        <p:spPr>
          <a:xfrm>
            <a:off x="8473440" y="481584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stored in repo alongside code</a:t>
            </a:r>
            <a:endParaRPr lang="en-US" sz="1333"/>
          </a:p>
        </p:txBody>
      </p:sp>
      <p:sp>
        <p:nvSpPr>
          <p:cNvPr id="43" name="Shape 36"/>
          <p:cNvSpPr/>
          <p:nvPr/>
        </p:nvSpPr>
        <p:spPr>
          <a:xfrm>
            <a:off x="6217920" y="5340096"/>
            <a:ext cx="56083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315456" y="5401056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000000"/>
                </a:solidFill>
              </a:rPr>
              <a:t>🔁</a:t>
            </a:r>
            <a:endParaRPr lang="en-US" sz="1867"/>
          </a:p>
        </p:txBody>
      </p:sp>
      <p:sp>
        <p:nvSpPr>
          <p:cNvPr id="45" name="Text 38"/>
          <p:cNvSpPr/>
          <p:nvPr/>
        </p:nvSpPr>
        <p:spPr>
          <a:xfrm>
            <a:off x="6766560" y="542544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Stages:  </a:t>
            </a:r>
            <a:endParaRPr lang="en-US" sz="1333"/>
          </a:p>
        </p:txBody>
      </p:sp>
      <p:sp>
        <p:nvSpPr>
          <p:cNvPr id="46" name="Text 39"/>
          <p:cNvSpPr/>
          <p:nvPr/>
        </p:nvSpPr>
        <p:spPr>
          <a:xfrm>
            <a:off x="8473440" y="542544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and builds concurrently</a:t>
            </a:r>
            <a:endParaRPr lang="en-US" sz="1333"/>
          </a:p>
        </p:txBody>
      </p:sp>
      <p:sp>
        <p:nvSpPr>
          <p:cNvPr id="47" name="Shape 40"/>
          <p:cNvSpPr/>
          <p:nvPr/>
        </p:nvSpPr>
        <p:spPr>
          <a:xfrm>
            <a:off x="6217920" y="5949696"/>
            <a:ext cx="56083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315456" y="6010656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000000"/>
                </a:solidFill>
              </a:rPr>
              <a:t>🔐</a:t>
            </a:r>
            <a:endParaRPr lang="en-US" sz="1867"/>
          </a:p>
        </p:txBody>
      </p:sp>
      <p:sp>
        <p:nvSpPr>
          <p:cNvPr id="49" name="Text 42"/>
          <p:cNvSpPr/>
          <p:nvPr/>
        </p:nvSpPr>
        <p:spPr>
          <a:xfrm>
            <a:off x="6766560" y="603504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Mgmt:  </a:t>
            </a:r>
            <a:endParaRPr lang="en-US" sz="1333"/>
          </a:p>
        </p:txBody>
      </p:sp>
      <p:sp>
        <p:nvSpPr>
          <p:cNvPr id="50" name="Text 43"/>
          <p:cNvSpPr/>
          <p:nvPr/>
        </p:nvSpPr>
        <p:spPr>
          <a:xfrm>
            <a:off x="8473440" y="603504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for passwords, SSH keys, tokens</a:t>
            </a:r>
            <a:endParaRPr lang="en-US" sz="1333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8C2B76-2F5F-BD9B-EE11-F9824ED8C86F}"/>
              </a:ext>
            </a:extLst>
          </p:cNvPr>
          <p:cNvSpPr txBox="1"/>
          <p:nvPr/>
        </p:nvSpPr>
        <p:spPr>
          <a:xfrm>
            <a:off x="690563" y="4536281"/>
            <a:ext cx="609600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i="0" u="none" strike="noStrike" baseline="0">
                <a:latin typeface="Calibri"/>
                <a:ea typeface="Calibri"/>
                <a:cs typeface="Calibri"/>
              </a:rPr>
              <a:t>Connecting Gerrit with Jenkins</a:t>
            </a:r>
            <a:endParaRPr lang="en-US" sz="4400">
              <a:latin typeface="Calibri"/>
              <a:ea typeface="Calibri"/>
              <a:cs typeface="Calibri"/>
            </a:endParaRPr>
          </a:p>
          <a:p>
            <a:pPr algn="ctr"/>
            <a:endParaRPr lang="en-US" sz="4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0938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4800" y="1097280"/>
            <a:ext cx="554736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4800" y="1097280"/>
            <a:ext cx="554736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121664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Setup Steps</a:t>
            </a:r>
            <a:endParaRPr lang="en-US" sz="1733"/>
          </a:p>
        </p:txBody>
      </p:sp>
      <p:sp>
        <p:nvSpPr>
          <p:cNvPr id="7" name="Shape 5"/>
          <p:cNvSpPr/>
          <p:nvPr/>
        </p:nvSpPr>
        <p:spPr>
          <a:xfrm>
            <a:off x="463296" y="1840992"/>
            <a:ext cx="390144" cy="390144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96" y="1853184"/>
            <a:ext cx="39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1</a:t>
            </a:r>
            <a:endParaRPr lang="en-US" sz="1333"/>
          </a:p>
        </p:txBody>
      </p:sp>
      <p:sp>
        <p:nvSpPr>
          <p:cNvPr id="9" name="Text 7"/>
          <p:cNvSpPr/>
          <p:nvPr/>
        </p:nvSpPr>
        <p:spPr>
          <a:xfrm>
            <a:off x="950976" y="1755648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Gerrit Trigger Plugin</a:t>
            </a:r>
            <a:endParaRPr lang="en-US" sz="1467"/>
          </a:p>
        </p:txBody>
      </p:sp>
      <p:sp>
        <p:nvSpPr>
          <p:cNvPr id="10" name="Text 8"/>
          <p:cNvSpPr/>
          <p:nvPr/>
        </p:nvSpPr>
        <p:spPr>
          <a:xfrm>
            <a:off x="950976" y="2097024"/>
            <a:ext cx="469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Jenkins → Manage Plugins → search 'Gerrit Trigger' → install</a:t>
            </a:r>
            <a:endParaRPr lang="en-US" sz="1267"/>
          </a:p>
        </p:txBody>
      </p:sp>
      <p:sp>
        <p:nvSpPr>
          <p:cNvPr id="11" name="Shape 9"/>
          <p:cNvSpPr/>
          <p:nvPr/>
        </p:nvSpPr>
        <p:spPr>
          <a:xfrm>
            <a:off x="463296" y="2791968"/>
            <a:ext cx="390144" cy="390144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296" y="2804160"/>
            <a:ext cx="39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2</a:t>
            </a:r>
            <a:endParaRPr lang="en-US" sz="1333"/>
          </a:p>
        </p:txBody>
      </p:sp>
      <p:sp>
        <p:nvSpPr>
          <p:cNvPr id="13" name="Text 11"/>
          <p:cNvSpPr/>
          <p:nvPr/>
        </p:nvSpPr>
        <p:spPr>
          <a:xfrm>
            <a:off x="950976" y="2706624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Gerrit Server</a:t>
            </a:r>
            <a:endParaRPr lang="en-US" sz="1467"/>
          </a:p>
        </p:txBody>
      </p:sp>
      <p:sp>
        <p:nvSpPr>
          <p:cNvPr id="14" name="Text 12"/>
          <p:cNvSpPr/>
          <p:nvPr/>
        </p:nvSpPr>
        <p:spPr>
          <a:xfrm>
            <a:off x="950976" y="3048000"/>
            <a:ext cx="469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→ Manage Jenkins → Gerrit Trigger → Add New Server → enter hostname, SSH port 29418</a:t>
            </a:r>
            <a:endParaRPr lang="en-US" sz="1267"/>
          </a:p>
        </p:txBody>
      </p:sp>
      <p:sp>
        <p:nvSpPr>
          <p:cNvPr id="15" name="Shape 13"/>
          <p:cNvSpPr/>
          <p:nvPr/>
        </p:nvSpPr>
        <p:spPr>
          <a:xfrm>
            <a:off x="463296" y="3742944"/>
            <a:ext cx="390144" cy="390144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296" y="3755136"/>
            <a:ext cx="39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3</a:t>
            </a:r>
            <a:endParaRPr lang="en-US" sz="1333"/>
          </a:p>
        </p:txBody>
      </p:sp>
      <p:sp>
        <p:nvSpPr>
          <p:cNvPr id="17" name="Text 15"/>
          <p:cNvSpPr/>
          <p:nvPr/>
        </p:nvSpPr>
        <p:spPr>
          <a:xfrm>
            <a:off x="950976" y="3657600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Jenkins SSH Key to Gerrit</a:t>
            </a:r>
            <a:endParaRPr lang="en-US" sz="1467"/>
          </a:p>
        </p:txBody>
      </p:sp>
      <p:sp>
        <p:nvSpPr>
          <p:cNvPr id="18" name="Text 16"/>
          <p:cNvSpPr/>
          <p:nvPr/>
        </p:nvSpPr>
        <p:spPr>
          <a:xfrm>
            <a:off x="950976" y="3998976"/>
            <a:ext cx="469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SSH keypair on Jenkins. Add public key to Gerrit user account (service account)</a:t>
            </a:r>
            <a:endParaRPr lang="en-US" sz="1267"/>
          </a:p>
        </p:txBody>
      </p:sp>
      <p:sp>
        <p:nvSpPr>
          <p:cNvPr id="19" name="Shape 17"/>
          <p:cNvSpPr/>
          <p:nvPr/>
        </p:nvSpPr>
        <p:spPr>
          <a:xfrm>
            <a:off x="463296" y="4693920"/>
            <a:ext cx="390144" cy="390144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296" y="4706112"/>
            <a:ext cx="39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4</a:t>
            </a:r>
            <a:endParaRPr lang="en-US" sz="1333"/>
          </a:p>
        </p:txBody>
      </p:sp>
      <p:sp>
        <p:nvSpPr>
          <p:cNvPr id="21" name="Text 19"/>
          <p:cNvSpPr/>
          <p:nvPr/>
        </p:nvSpPr>
        <p:spPr>
          <a:xfrm>
            <a:off x="950976" y="4608576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Jenkins Job</a:t>
            </a:r>
            <a:endParaRPr lang="en-US" sz="1467"/>
          </a:p>
        </p:txBody>
      </p:sp>
      <p:sp>
        <p:nvSpPr>
          <p:cNvPr id="22" name="Text 20"/>
          <p:cNvSpPr/>
          <p:nvPr/>
        </p:nvSpPr>
        <p:spPr>
          <a:xfrm>
            <a:off x="950976" y="4949952"/>
            <a:ext cx="469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 → Freestyle or Pipeline Project. Under 'Build Triggers' check 'Gerrit Event'</a:t>
            </a:r>
            <a:endParaRPr lang="en-US" sz="1267"/>
          </a:p>
        </p:txBody>
      </p:sp>
      <p:sp>
        <p:nvSpPr>
          <p:cNvPr id="23" name="Shape 21"/>
          <p:cNvSpPr/>
          <p:nvPr/>
        </p:nvSpPr>
        <p:spPr>
          <a:xfrm>
            <a:off x="463296" y="5644896"/>
            <a:ext cx="390144" cy="390144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296" y="5657088"/>
            <a:ext cx="39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5</a:t>
            </a:r>
            <a:endParaRPr lang="en-US" sz="1333"/>
          </a:p>
        </p:txBody>
      </p:sp>
      <p:sp>
        <p:nvSpPr>
          <p:cNvPr id="25" name="Text 23"/>
          <p:cNvSpPr/>
          <p:nvPr/>
        </p:nvSpPr>
        <p:spPr>
          <a:xfrm>
            <a:off x="950976" y="5559552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Trigger Events</a:t>
            </a:r>
            <a:endParaRPr lang="en-US" sz="1467"/>
          </a:p>
        </p:txBody>
      </p:sp>
      <p:sp>
        <p:nvSpPr>
          <p:cNvPr id="26" name="Text 24"/>
          <p:cNvSpPr/>
          <p:nvPr/>
        </p:nvSpPr>
        <p:spPr>
          <a:xfrm>
            <a:off x="950976" y="5900928"/>
            <a:ext cx="469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events: </a:t>
            </a:r>
            <a:r>
              <a:rPr lang="en-US" sz="1267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Patchset</a:t>
            </a: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Created, Draft Published. Set project filter and branch filter</a:t>
            </a:r>
            <a:endParaRPr lang="en-US" sz="1267"/>
          </a:p>
        </p:txBody>
      </p:sp>
      <p:sp>
        <p:nvSpPr>
          <p:cNvPr id="27" name="Shape 25"/>
          <p:cNvSpPr/>
          <p:nvPr/>
        </p:nvSpPr>
        <p:spPr>
          <a:xfrm>
            <a:off x="6156960" y="1097280"/>
            <a:ext cx="573024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56960" y="1097280"/>
            <a:ext cx="573024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9840" y="1121664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Integration Flow</a:t>
            </a:r>
            <a:endParaRPr lang="en-US" sz="1733"/>
          </a:p>
        </p:txBody>
      </p:sp>
      <p:sp>
        <p:nvSpPr>
          <p:cNvPr id="30" name="Shape 28"/>
          <p:cNvSpPr/>
          <p:nvPr/>
        </p:nvSpPr>
        <p:spPr>
          <a:xfrm>
            <a:off x="6400800" y="1804416"/>
            <a:ext cx="5242560" cy="707136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804416"/>
            <a:ext cx="85344" cy="7071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8064" y="1804416"/>
            <a:ext cx="4876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to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refs/for/main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8900160" y="2511552"/>
            <a:ext cx="48768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94A3B8"/>
                </a:solidFill>
              </a:rPr>
              <a:t>▼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6400800" y="2682240"/>
            <a:ext cx="5242560" cy="707136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682240"/>
            <a:ext cx="85344" cy="7071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8064" y="2682240"/>
            <a:ext cx="4876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 fires event: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Patchset Created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8900160" y="3389376"/>
            <a:ext cx="48768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94A3B8"/>
                </a:solidFill>
              </a:rPr>
              <a:t>▼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6400800" y="3560064"/>
            <a:ext cx="5242560" cy="707136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560064"/>
            <a:ext cx="85344" cy="7071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8064" y="3560064"/>
            <a:ext cx="4876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detects event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Gerrit Trigger Plugin</a:t>
            </a:r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8900160" y="4267200"/>
            <a:ext cx="48768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94A3B8"/>
                </a:solidFill>
              </a:rPr>
              <a:t>▼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6400800" y="4437888"/>
            <a:ext cx="5242560" cy="70713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4437888"/>
            <a:ext cx="85344" cy="7071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8064" y="4437888"/>
            <a:ext cx="4876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runs build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tests</a:t>
            </a:r>
            <a:endParaRPr lang="en-US" sz="1400"/>
          </a:p>
        </p:txBody>
      </p:sp>
      <p:sp>
        <p:nvSpPr>
          <p:cNvPr id="45" name="Text 43"/>
          <p:cNvSpPr/>
          <p:nvPr/>
        </p:nvSpPr>
        <p:spPr>
          <a:xfrm>
            <a:off x="8900160" y="5145024"/>
            <a:ext cx="48768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94A3B8"/>
                </a:solidFill>
              </a:rPr>
              <a:t>▼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6400800" y="5315712"/>
            <a:ext cx="5242560" cy="707136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5315712"/>
            <a:ext cx="85344" cy="7071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08064" y="5315712"/>
            <a:ext cx="4876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sets Verified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(pass) / -1 (fail)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12D9F-12CB-C80B-6BDD-EE7A26C28449}"/>
              </a:ext>
            </a:extLst>
          </p:cNvPr>
          <p:cNvSpPr txBox="1"/>
          <p:nvPr/>
        </p:nvSpPr>
        <p:spPr>
          <a:xfrm>
            <a:off x="881063" y="4738687"/>
            <a:ext cx="609600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i="0" u="none" strike="noStrike" baseline="0">
                <a:latin typeface="Calibri"/>
                <a:ea typeface="Calibri"/>
                <a:cs typeface="Calibri"/>
              </a:rPr>
              <a:t>Auto-Trigger &amp; Build on Gerrit Events</a:t>
            </a:r>
            <a:r>
              <a:rPr sz="4400" b="0" i="0">
                <a:latin typeface="Calibri"/>
                <a:ea typeface="Calibri"/>
                <a:cs typeface="Calibri"/>
              </a:rPr>
              <a:t>​</a:t>
            </a:r>
            <a:endParaRPr lang="en-US" sz="4400">
              <a:latin typeface="Calibri"/>
              <a:ea typeface="Calibri"/>
              <a:cs typeface="Calibri"/>
            </a:endParaRPr>
          </a:p>
          <a:p>
            <a:pPr algn="ctr"/>
            <a:endParaRPr lang="en-US" sz="4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2277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7197" y="858584"/>
            <a:ext cx="7241381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Gerrit Events That Trigger Jenkins: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584960"/>
            <a:ext cx="67056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84960"/>
            <a:ext cx="73152" cy="609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633728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Patchset Created</a:t>
            </a:r>
            <a:endParaRPr lang="en-US" sz="1467"/>
          </a:p>
        </p:txBody>
      </p:sp>
      <p:sp>
        <p:nvSpPr>
          <p:cNvPr id="8" name="Text 6"/>
          <p:cNvSpPr/>
          <p:nvPr/>
        </p:nvSpPr>
        <p:spPr>
          <a:xfrm>
            <a:off x="609600" y="1901952"/>
            <a:ext cx="6278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commit pushed to Gerrit</a:t>
            </a:r>
            <a:endParaRPr lang="en-US" sz="1267"/>
          </a:p>
        </p:txBody>
      </p:sp>
      <p:sp>
        <p:nvSpPr>
          <p:cNvPr id="9" name="Shape 7"/>
          <p:cNvSpPr/>
          <p:nvPr/>
        </p:nvSpPr>
        <p:spPr>
          <a:xfrm>
            <a:off x="365760" y="2292096"/>
            <a:ext cx="67056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92096"/>
            <a:ext cx="73152" cy="609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2340864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Published</a:t>
            </a:r>
            <a:endParaRPr lang="en-US" sz="1467"/>
          </a:p>
        </p:txBody>
      </p:sp>
      <p:sp>
        <p:nvSpPr>
          <p:cNvPr id="12" name="Text 10"/>
          <p:cNvSpPr/>
          <p:nvPr/>
        </p:nvSpPr>
        <p:spPr>
          <a:xfrm>
            <a:off x="609600" y="2609088"/>
            <a:ext cx="6278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change is ready for review</a:t>
            </a:r>
            <a:endParaRPr lang="en-US" sz="1267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67056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73152" cy="609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3048000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Merged</a:t>
            </a:r>
            <a:endParaRPr lang="en-US" sz="1467"/>
          </a:p>
        </p:txBody>
      </p:sp>
      <p:sp>
        <p:nvSpPr>
          <p:cNvPr id="16" name="Text 14"/>
          <p:cNvSpPr/>
          <p:nvPr/>
        </p:nvSpPr>
        <p:spPr>
          <a:xfrm>
            <a:off x="609600" y="3316224"/>
            <a:ext cx="6278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+2 and submit — trigger deploy pipeline</a:t>
            </a:r>
            <a:endParaRPr lang="en-US" sz="1267"/>
          </a:p>
        </p:txBody>
      </p:sp>
      <p:sp>
        <p:nvSpPr>
          <p:cNvPr id="17" name="Shape 15"/>
          <p:cNvSpPr/>
          <p:nvPr/>
        </p:nvSpPr>
        <p:spPr>
          <a:xfrm>
            <a:off x="365760" y="3706368"/>
            <a:ext cx="67056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06368"/>
            <a:ext cx="73152" cy="609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" y="3755136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Added</a:t>
            </a:r>
            <a:endParaRPr lang="en-US" sz="1467"/>
          </a:p>
        </p:txBody>
      </p:sp>
      <p:sp>
        <p:nvSpPr>
          <p:cNvPr id="20" name="Text 18"/>
          <p:cNvSpPr/>
          <p:nvPr/>
        </p:nvSpPr>
        <p:spPr>
          <a:xfrm>
            <a:off x="609600" y="4023360"/>
            <a:ext cx="6278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specific keyword triggers a rebuild (e.g. 'recheck')</a:t>
            </a:r>
            <a:endParaRPr lang="en-US" sz="1267"/>
          </a:p>
        </p:txBody>
      </p:sp>
      <p:sp>
        <p:nvSpPr>
          <p:cNvPr id="21" name="Shape 19"/>
          <p:cNvSpPr/>
          <p:nvPr/>
        </p:nvSpPr>
        <p:spPr>
          <a:xfrm>
            <a:off x="7364254" y="1668209"/>
            <a:ext cx="4594383" cy="260365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6174" y="1741361"/>
            <a:ext cx="4350543" cy="340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Jenkinsfile – Gerrit Trigger Config</a:t>
            </a:r>
            <a:endParaRPr lang="en-US" sz="1133"/>
          </a:p>
        </p:txBody>
      </p:sp>
      <p:sp>
        <p:nvSpPr>
          <p:cNvPr id="23" name="Text 21"/>
          <p:cNvSpPr/>
          <p:nvPr/>
        </p:nvSpPr>
        <p:spPr>
          <a:xfrm>
            <a:off x="7486174" y="2033969"/>
            <a:ext cx="4350543" cy="2092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{
</a:t>
            </a: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gerrit {
    events {
</a:t>
            </a:r>
            <a:r>
              <a:rPr lang="en-US" sz="120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patchsetCreated()
      changeMerged()
</a:t>
            </a: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project(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'my-repo'</a:t>
            </a: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branches(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65760" y="4413504"/>
            <a:ext cx="11582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Reports Back to Gerrit:</a:t>
            </a:r>
            <a:endParaRPr lang="en-US" sz="1733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560832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" y="5084064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PASSED</a:t>
            </a:r>
            <a:endParaRPr lang="en-US" sz="1733"/>
          </a:p>
        </p:txBody>
      </p:sp>
      <p:sp>
        <p:nvSpPr>
          <p:cNvPr id="27" name="Shape 25"/>
          <p:cNvSpPr/>
          <p:nvPr/>
        </p:nvSpPr>
        <p:spPr>
          <a:xfrm>
            <a:off x="4291584" y="5059680"/>
            <a:ext cx="1463040" cy="426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1584" y="505968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Verified: +1</a:t>
            </a:r>
            <a:endParaRPr lang="en-US" sz="1333"/>
          </a:p>
        </p:txBody>
      </p:sp>
      <p:sp>
        <p:nvSpPr>
          <p:cNvPr id="29" name="Text 27"/>
          <p:cNvSpPr/>
          <p:nvPr/>
        </p:nvSpPr>
        <p:spPr>
          <a:xfrm>
            <a:off x="585216" y="557174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marks Verified +1, change is eligible for human review and merge</a:t>
            </a:r>
            <a:endParaRPr lang="en-US" sz="1333"/>
          </a:p>
        </p:txBody>
      </p:sp>
      <p:sp>
        <p:nvSpPr>
          <p:cNvPr id="30" name="Shape 28"/>
          <p:cNvSpPr/>
          <p:nvPr/>
        </p:nvSpPr>
        <p:spPr>
          <a:xfrm>
            <a:off x="6278880" y="4937760"/>
            <a:ext cx="5608320" cy="1645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8336" y="5084064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FAILED</a:t>
            </a:r>
            <a:endParaRPr lang="en-US" sz="1733"/>
          </a:p>
        </p:txBody>
      </p:sp>
      <p:sp>
        <p:nvSpPr>
          <p:cNvPr id="32" name="Shape 30"/>
          <p:cNvSpPr/>
          <p:nvPr/>
        </p:nvSpPr>
        <p:spPr>
          <a:xfrm>
            <a:off x="10204704" y="5059680"/>
            <a:ext cx="1463040" cy="426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4704" y="505968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Verified: -1</a:t>
            </a:r>
            <a:endParaRPr lang="en-US" sz="1333"/>
          </a:p>
        </p:txBody>
      </p:sp>
      <p:sp>
        <p:nvSpPr>
          <p:cNvPr id="34" name="Text 32"/>
          <p:cNvSpPr/>
          <p:nvPr/>
        </p:nvSpPr>
        <p:spPr>
          <a:xfrm>
            <a:off x="6498336" y="557174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marks Verified -1, blocks merge until the issue is fixed and rebuilt</a:t>
            </a:r>
            <a:endParaRPr lang="en-US" sz="1333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60A1C-1759-19BD-B739-9BDD78A92007}"/>
              </a:ext>
            </a:extLst>
          </p:cNvPr>
          <p:cNvSpPr txBox="1"/>
          <p:nvPr/>
        </p:nvSpPr>
        <p:spPr>
          <a:xfrm>
            <a:off x="750094" y="4024313"/>
            <a:ext cx="609600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i="0" u="none" strike="noStrike" baseline="0">
                <a:latin typeface="Calibri"/>
                <a:ea typeface="Calibri"/>
                <a:cs typeface="Calibri"/>
              </a:rPr>
              <a:t>Automated </a:t>
            </a:r>
            <a:endParaRPr lang="en-US" sz="4400">
              <a:latin typeface="Calibri"/>
              <a:ea typeface="Calibri"/>
              <a:cs typeface="Calibri"/>
            </a:endParaRPr>
          </a:p>
          <a:p>
            <a:r>
              <a:rPr lang="en-US" sz="4400" i="0" u="none" strike="noStrike" baseline="0">
                <a:latin typeface="Calibri"/>
                <a:ea typeface="Calibri"/>
                <a:cs typeface="Calibri"/>
              </a:rPr>
              <a:t>Email Notifications After Build</a:t>
            </a:r>
            <a:r>
              <a:rPr sz="4400" b="0" i="0">
                <a:latin typeface="Calibri"/>
                <a:ea typeface="Calibri"/>
                <a:cs typeface="Calibri"/>
              </a:rPr>
              <a:t>​</a:t>
            </a:r>
            <a:endParaRPr lang="en-US" sz="4400">
              <a:latin typeface="Calibri"/>
              <a:ea typeface="Calibri"/>
              <a:cs typeface="Calibri"/>
            </a:endParaRPr>
          </a:p>
          <a:p>
            <a:pPr algn="ctr"/>
            <a:endParaRPr lang="en-US" sz="4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7002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4800" y="1097280"/>
            <a:ext cx="554736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4800" y="1097280"/>
            <a:ext cx="554736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121664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Setup in Jenkins</a:t>
            </a:r>
            <a:endParaRPr lang="en-US" sz="1733"/>
          </a:p>
        </p:txBody>
      </p:sp>
      <p:sp>
        <p:nvSpPr>
          <p:cNvPr id="7" name="Shape 5"/>
          <p:cNvSpPr/>
          <p:nvPr/>
        </p:nvSpPr>
        <p:spPr>
          <a:xfrm>
            <a:off x="463296" y="1755648"/>
            <a:ext cx="5218176" cy="8290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828800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333"/>
          </a:p>
        </p:txBody>
      </p:sp>
      <p:sp>
        <p:nvSpPr>
          <p:cNvPr id="9" name="Text 7"/>
          <p:cNvSpPr/>
          <p:nvPr/>
        </p:nvSpPr>
        <p:spPr>
          <a:xfrm>
            <a:off x="585216" y="2121408"/>
            <a:ext cx="4937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'Email Extension Plugin' (Email-ext) from Jenkins Plugin Manager</a:t>
            </a:r>
            <a:endParaRPr lang="en-US" sz="1267"/>
          </a:p>
        </p:txBody>
      </p:sp>
      <p:sp>
        <p:nvSpPr>
          <p:cNvPr id="10" name="Shape 8"/>
          <p:cNvSpPr/>
          <p:nvPr/>
        </p:nvSpPr>
        <p:spPr>
          <a:xfrm>
            <a:off x="463296" y="2706624"/>
            <a:ext cx="5218176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779776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Config</a:t>
            </a:r>
            <a:endParaRPr lang="en-US" sz="1333"/>
          </a:p>
        </p:txBody>
      </p:sp>
      <p:sp>
        <p:nvSpPr>
          <p:cNvPr id="12" name="Text 10"/>
          <p:cNvSpPr/>
          <p:nvPr/>
        </p:nvSpPr>
        <p:spPr>
          <a:xfrm>
            <a:off x="585216" y="3072384"/>
            <a:ext cx="4937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Jenkins → Configure System → E-mail Notification → Enter SMTP server, port, credentials</a:t>
            </a:r>
            <a:endParaRPr lang="en-US" sz="1267"/>
          </a:p>
        </p:txBody>
      </p:sp>
      <p:sp>
        <p:nvSpPr>
          <p:cNvPr id="13" name="Shape 11"/>
          <p:cNvSpPr/>
          <p:nvPr/>
        </p:nvSpPr>
        <p:spPr>
          <a:xfrm>
            <a:off x="463296" y="3657600"/>
            <a:ext cx="5218176" cy="8290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730752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Address</a:t>
            </a:r>
            <a:endParaRPr lang="en-US" sz="1333"/>
          </a:p>
        </p:txBody>
      </p:sp>
      <p:sp>
        <p:nvSpPr>
          <p:cNvPr id="15" name="Text 13"/>
          <p:cNvSpPr/>
          <p:nvPr/>
        </p:nvSpPr>
        <p:spPr>
          <a:xfrm>
            <a:off x="585216" y="4023360"/>
            <a:ext cx="4937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sender address e.g. jenkins@yourcompany.com</a:t>
            </a:r>
            <a:endParaRPr lang="en-US" sz="1267"/>
          </a:p>
        </p:txBody>
      </p:sp>
      <p:sp>
        <p:nvSpPr>
          <p:cNvPr id="16" name="Shape 14"/>
          <p:cNvSpPr/>
          <p:nvPr/>
        </p:nvSpPr>
        <p:spPr>
          <a:xfrm>
            <a:off x="463296" y="4608576"/>
            <a:ext cx="5218176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4681728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</a:t>
            </a:r>
            <a:endParaRPr lang="en-US" sz="1333"/>
          </a:p>
        </p:txBody>
      </p:sp>
      <p:sp>
        <p:nvSpPr>
          <p:cNvPr id="18" name="Text 16"/>
          <p:cNvSpPr/>
          <p:nvPr/>
        </p:nvSpPr>
        <p:spPr>
          <a:xfrm>
            <a:off x="585216" y="4974336"/>
            <a:ext cx="4937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developer who made the change, reviewers, team mailing list</a:t>
            </a:r>
            <a:endParaRPr lang="en-US" sz="1267"/>
          </a:p>
        </p:txBody>
      </p:sp>
      <p:sp>
        <p:nvSpPr>
          <p:cNvPr id="19" name="Shape 17"/>
          <p:cNvSpPr/>
          <p:nvPr/>
        </p:nvSpPr>
        <p:spPr>
          <a:xfrm>
            <a:off x="463296" y="5559552"/>
            <a:ext cx="5218176" cy="8290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563270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333"/>
          </a:p>
        </p:txBody>
      </p:sp>
      <p:sp>
        <p:nvSpPr>
          <p:cNvPr id="21" name="Text 19"/>
          <p:cNvSpPr/>
          <p:nvPr/>
        </p:nvSpPr>
        <p:spPr>
          <a:xfrm>
            <a:off x="585216" y="5925312"/>
            <a:ext cx="4937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on: Build Failure, Unstable, Back to Normal, Success (optional)</a:t>
            </a:r>
            <a:endParaRPr lang="en-US" sz="1267"/>
          </a:p>
        </p:txBody>
      </p:sp>
      <p:sp>
        <p:nvSpPr>
          <p:cNvPr id="22" name="Shape 20"/>
          <p:cNvSpPr/>
          <p:nvPr/>
        </p:nvSpPr>
        <p:spPr>
          <a:xfrm>
            <a:off x="6156960" y="1097280"/>
            <a:ext cx="573024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5456" y="1182624"/>
            <a:ext cx="54132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Email notification in Jenkinsfile</a:t>
            </a:r>
            <a:endParaRPr lang="en-US" sz="1133"/>
          </a:p>
        </p:txBody>
      </p:sp>
      <p:sp>
        <p:nvSpPr>
          <p:cNvPr id="24" name="Text 22"/>
          <p:cNvSpPr/>
          <p:nvPr/>
        </p:nvSpPr>
        <p:spPr>
          <a:xfrm>
            <a:off x="6315456" y="1463040"/>
            <a:ext cx="5413248" cy="225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3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{
</a:t>
            </a:r>
            <a:r>
              <a:rPr lang="en-US" sz="1173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failure {
</a:t>
            </a: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emailext(
      subject: </a:t>
            </a:r>
            <a:r>
              <a:rPr lang="en-US" sz="117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 Failed: ${JOB_NAME}',
</a:t>
            </a: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   </a:t>
            </a:r>
            <a:r>
              <a:rPr lang="en-US" sz="117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'Check: ${BUILD_URL}',
</a:t>
            </a: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to:      </a:t>
            </a:r>
            <a:r>
              <a:rPr lang="en-US" sz="117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'${GERRIT_CHANGE_OWNER_EMAIL}'
</a:t>
            </a: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73"/>
          </a:p>
          <a:p>
            <a:pPr marL="0" indent="0">
              <a:buNone/>
            </a:pP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73"/>
          </a:p>
          <a:p>
            <a:pPr marL="0" indent="0">
              <a:buNone/>
            </a:pP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 {</a:t>
            </a:r>
            <a:endParaRPr lang="en-US" sz="1173"/>
          </a:p>
          <a:p>
            <a:pPr marL="0" indent="0">
              <a:buNone/>
            </a:pP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emailext(subject: </a:t>
            </a:r>
            <a:endParaRPr lang="en-US" sz="1173"/>
          </a:p>
          <a:p>
            <a:pPr marL="0" indent="0">
              <a:buNone/>
            </a:pPr>
            <a:r>
              <a:rPr lang="en-US" sz="1173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'✅ Build OK'</a:t>
            </a: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1173"/>
          </a:p>
          <a:p>
            <a:pPr marL="0" indent="0">
              <a:buNone/>
            </a:pP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73"/>
          </a:p>
          <a:p>
            <a:pPr marL="0" indent="0">
              <a:buNone/>
            </a:pPr>
            <a:r>
              <a:rPr lang="en-US" sz="1173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73"/>
          </a:p>
        </p:txBody>
      </p:sp>
      <p:sp>
        <p:nvSpPr>
          <p:cNvPr id="25" name="Shape 23"/>
          <p:cNvSpPr/>
          <p:nvPr/>
        </p:nvSpPr>
        <p:spPr>
          <a:xfrm>
            <a:off x="6156960" y="4023360"/>
            <a:ext cx="5730240" cy="1158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11840" y="4120896"/>
            <a:ext cx="877824" cy="304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11840" y="4120896"/>
            <a:ext cx="8778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>
                <a:solidFill>
                  <a:srgbClr val="FFFFFF"/>
                </a:solidFill>
              </a:rPr>
              <a:t>FAILURE</a:t>
            </a:r>
            <a:endParaRPr lang="en-US" sz="1067"/>
          </a:p>
        </p:txBody>
      </p:sp>
      <p:sp>
        <p:nvSpPr>
          <p:cNvPr id="28" name="Text 26"/>
          <p:cNvSpPr/>
          <p:nvPr/>
        </p:nvSpPr>
        <p:spPr>
          <a:xfrm>
            <a:off x="6278880" y="4096512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Build FAILED: project/main #42</a:t>
            </a:r>
            <a:endParaRPr lang="en-US" sz="1267"/>
          </a:p>
        </p:txBody>
      </p:sp>
      <p:sp>
        <p:nvSpPr>
          <p:cNvPr id="29" name="Text 27"/>
          <p:cNvSpPr/>
          <p:nvPr/>
        </p:nvSpPr>
        <p:spPr>
          <a:xfrm>
            <a:off x="6314599" y="4305776"/>
            <a:ext cx="524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jenkins@company.com</a:t>
            </a:r>
            <a:endParaRPr lang="en-US" sz="1133"/>
          </a:p>
        </p:txBody>
      </p:sp>
      <p:sp>
        <p:nvSpPr>
          <p:cNvPr id="30" name="Text 28"/>
          <p:cNvSpPr/>
          <p:nvPr/>
        </p:nvSpPr>
        <p:spPr>
          <a:xfrm>
            <a:off x="6314599" y="4596670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#42 for project 'my-repo' failed.</a:t>
            </a:r>
            <a:endParaRPr lang="en-US" sz="1067"/>
          </a:p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 | Change: 1234</a:t>
            </a:r>
            <a:endParaRPr lang="en-US" sz="1067"/>
          </a:p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Test failures in 3 cases</a:t>
            </a:r>
            <a:endParaRPr lang="en-US" sz="1067"/>
          </a:p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logs: http://jenkins:8080/job/my-repo/42</a:t>
            </a:r>
            <a:endParaRPr lang="en-US" sz="1067"/>
          </a:p>
        </p:txBody>
      </p:sp>
      <p:sp>
        <p:nvSpPr>
          <p:cNvPr id="31" name="Shape 29"/>
          <p:cNvSpPr/>
          <p:nvPr/>
        </p:nvSpPr>
        <p:spPr>
          <a:xfrm>
            <a:off x="6156960" y="5340096"/>
            <a:ext cx="5730240" cy="11582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911840" y="5437632"/>
            <a:ext cx="877824" cy="304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11840" y="5437632"/>
            <a:ext cx="8778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>
                <a:solidFill>
                  <a:srgbClr val="FFFFFF"/>
                </a:solidFill>
              </a:rPr>
              <a:t>SUCCESS</a:t>
            </a:r>
            <a:endParaRPr lang="en-US" sz="1067"/>
          </a:p>
        </p:txBody>
      </p:sp>
      <p:sp>
        <p:nvSpPr>
          <p:cNvPr id="34" name="Text 32"/>
          <p:cNvSpPr/>
          <p:nvPr/>
        </p:nvSpPr>
        <p:spPr>
          <a:xfrm>
            <a:off x="6278880" y="5413248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Build SUCCESS: project/main #43</a:t>
            </a:r>
            <a:endParaRPr lang="en-US" sz="1267"/>
          </a:p>
        </p:txBody>
      </p:sp>
      <p:sp>
        <p:nvSpPr>
          <p:cNvPr id="35" name="Text 33"/>
          <p:cNvSpPr/>
          <p:nvPr/>
        </p:nvSpPr>
        <p:spPr>
          <a:xfrm>
            <a:off x="6278880" y="5670137"/>
            <a:ext cx="524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jenkins@company.com</a:t>
            </a:r>
            <a:endParaRPr lang="en-US" sz="1133"/>
          </a:p>
        </p:txBody>
      </p:sp>
      <p:sp>
        <p:nvSpPr>
          <p:cNvPr id="36" name="Text 34"/>
          <p:cNvSpPr/>
          <p:nvPr/>
        </p:nvSpPr>
        <p:spPr>
          <a:xfrm>
            <a:off x="6278880" y="5925312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#43 for project 'my-repo' succeeded.</a:t>
            </a:r>
            <a:endParaRPr lang="en-US" sz="1067"/>
          </a:p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 | Change: 1235</a:t>
            </a:r>
            <a:endParaRPr lang="en-US" sz="1067"/>
          </a:p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passed ✓</a:t>
            </a:r>
            <a:endParaRPr lang="en-US" sz="1067"/>
          </a:p>
          <a:p>
            <a:pPr marL="0" indent="0">
              <a:buNone/>
            </a:pPr>
            <a:r>
              <a:rPr lang="en-US" sz="1067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+1 set on Gerrit change.</a:t>
            </a:r>
            <a:endParaRPr lang="en-US" sz="1067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481E7-C11A-6DD3-0662-EC8C53B21DC6}"/>
              </a:ext>
            </a:extLst>
          </p:cNvPr>
          <p:cNvSpPr txBox="1"/>
          <p:nvPr/>
        </p:nvSpPr>
        <p:spPr>
          <a:xfrm>
            <a:off x="892969" y="4572000"/>
            <a:ext cx="609600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i="0" u="none" strike="noStrike" baseline="0">
                <a:latin typeface="Calibri"/>
                <a:ea typeface="Calibri"/>
                <a:cs typeface="Calibri"/>
              </a:rPr>
              <a:t>End-to-End CI/CD Flow Summary</a:t>
            </a:r>
            <a:endParaRPr lang="en-US" sz="4400">
              <a:latin typeface="Calibri"/>
              <a:ea typeface="Calibri"/>
              <a:cs typeface="Calibri"/>
            </a:endParaRPr>
          </a:p>
          <a:p>
            <a:pPr algn="ctr"/>
            <a:endParaRPr lang="en-US" sz="4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5049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04399" y="50482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9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6175" y="1147762"/>
            <a:ext cx="1267968" cy="1889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727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727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1</a:t>
            </a:r>
            <a:endParaRPr lang="en-US" sz="1333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9" y="168421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055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</a:t>
            </a:r>
            <a:endParaRPr lang="en-US" sz="1267"/>
          </a:p>
        </p:txBody>
      </p:sp>
      <p:sp>
        <p:nvSpPr>
          <p:cNvPr id="9" name="Text 6"/>
          <p:cNvSpPr/>
          <p:nvPr/>
        </p:nvSpPr>
        <p:spPr>
          <a:xfrm>
            <a:off x="1910239" y="1757362"/>
            <a:ext cx="85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94A3B8"/>
                </a:solidFill>
              </a:rPr>
              <a:t>›</a:t>
            </a:r>
            <a:endParaRPr lang="en-US" sz="2400"/>
          </a:p>
        </p:txBody>
      </p:sp>
      <p:sp>
        <p:nvSpPr>
          <p:cNvPr id="10" name="Shape 7"/>
          <p:cNvSpPr/>
          <p:nvPr/>
        </p:nvSpPr>
        <p:spPr>
          <a:xfrm>
            <a:off x="1977295" y="1147762"/>
            <a:ext cx="1267968" cy="1889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2839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2839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2</a:t>
            </a:r>
            <a:endParaRPr lang="en-US" sz="1333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479" y="1684210"/>
            <a:ext cx="609600" cy="609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0167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 Review</a:t>
            </a:r>
            <a:endParaRPr lang="en-US" sz="1267"/>
          </a:p>
        </p:txBody>
      </p:sp>
      <p:sp>
        <p:nvSpPr>
          <p:cNvPr id="15" name="Text 11"/>
          <p:cNvSpPr/>
          <p:nvPr/>
        </p:nvSpPr>
        <p:spPr>
          <a:xfrm>
            <a:off x="3251359" y="1757362"/>
            <a:ext cx="85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94A3B8"/>
                </a:solidFill>
              </a:rPr>
              <a:t>›</a:t>
            </a:r>
            <a:endParaRPr lang="en-US" sz="2400"/>
          </a:p>
        </p:txBody>
      </p:sp>
      <p:sp>
        <p:nvSpPr>
          <p:cNvPr id="16" name="Shape 12"/>
          <p:cNvSpPr/>
          <p:nvPr/>
        </p:nvSpPr>
        <p:spPr>
          <a:xfrm>
            <a:off x="3318415" y="1147762"/>
            <a:ext cx="1267968" cy="1889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6951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6951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3</a:t>
            </a:r>
            <a:endParaRPr lang="en-US" sz="1333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7599" y="1684210"/>
            <a:ext cx="609600" cy="609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4279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</a:t>
            </a:r>
            <a:endParaRPr lang="en-US" sz="1267"/>
          </a:p>
        </p:txBody>
      </p:sp>
      <p:sp>
        <p:nvSpPr>
          <p:cNvPr id="21" name="Text 16"/>
          <p:cNvSpPr/>
          <p:nvPr/>
        </p:nvSpPr>
        <p:spPr>
          <a:xfrm>
            <a:off x="4592479" y="1757362"/>
            <a:ext cx="85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94A3B8"/>
                </a:solidFill>
              </a:rPr>
              <a:t>›</a:t>
            </a:r>
            <a:endParaRPr lang="en-US" sz="2400"/>
          </a:p>
        </p:txBody>
      </p:sp>
      <p:sp>
        <p:nvSpPr>
          <p:cNvPr id="22" name="Shape 17"/>
          <p:cNvSpPr/>
          <p:nvPr/>
        </p:nvSpPr>
        <p:spPr>
          <a:xfrm>
            <a:off x="4659535" y="1147762"/>
            <a:ext cx="1267968" cy="1889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11063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1063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4</a:t>
            </a:r>
            <a:endParaRPr lang="en-US" sz="1333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719" y="1684210"/>
            <a:ext cx="609600" cy="609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8391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</a:t>
            </a:r>
            <a:endParaRPr lang="en-US" sz="1267"/>
          </a:p>
        </p:txBody>
      </p:sp>
      <p:sp>
        <p:nvSpPr>
          <p:cNvPr id="27" name="Text 21"/>
          <p:cNvSpPr/>
          <p:nvPr/>
        </p:nvSpPr>
        <p:spPr>
          <a:xfrm>
            <a:off x="5933599" y="1757362"/>
            <a:ext cx="85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94A3B8"/>
                </a:solidFill>
              </a:rPr>
              <a:t>›</a:t>
            </a:r>
            <a:endParaRPr lang="en-US" sz="2400"/>
          </a:p>
        </p:txBody>
      </p:sp>
      <p:sp>
        <p:nvSpPr>
          <p:cNvPr id="28" name="Shape 22"/>
          <p:cNvSpPr/>
          <p:nvPr/>
        </p:nvSpPr>
        <p:spPr>
          <a:xfrm>
            <a:off x="6000655" y="1147762"/>
            <a:ext cx="1267968" cy="1889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5175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5175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5</a:t>
            </a:r>
            <a:endParaRPr lang="en-US" sz="1333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839" y="1684210"/>
            <a:ext cx="609600" cy="609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02503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Set</a:t>
            </a:r>
            <a:endParaRPr lang="en-US" sz="1267"/>
          </a:p>
        </p:txBody>
      </p:sp>
      <p:sp>
        <p:nvSpPr>
          <p:cNvPr id="33" name="Text 26"/>
          <p:cNvSpPr/>
          <p:nvPr/>
        </p:nvSpPr>
        <p:spPr>
          <a:xfrm>
            <a:off x="7274719" y="1757362"/>
            <a:ext cx="85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94A3B8"/>
                </a:solidFill>
              </a:rPr>
              <a:t>›</a:t>
            </a:r>
            <a:endParaRPr lang="en-US" sz="2400"/>
          </a:p>
        </p:txBody>
      </p:sp>
      <p:sp>
        <p:nvSpPr>
          <p:cNvPr id="34" name="Shape 27"/>
          <p:cNvSpPr/>
          <p:nvPr/>
        </p:nvSpPr>
        <p:spPr>
          <a:xfrm>
            <a:off x="7341775" y="1147762"/>
            <a:ext cx="1267968" cy="1889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79287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9287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6</a:t>
            </a:r>
            <a:endParaRPr lang="en-US" sz="1333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959" y="1684210"/>
            <a:ext cx="609600" cy="609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36615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67"/>
          </a:p>
        </p:txBody>
      </p:sp>
      <p:sp>
        <p:nvSpPr>
          <p:cNvPr id="39" name="Text 31"/>
          <p:cNvSpPr/>
          <p:nvPr/>
        </p:nvSpPr>
        <p:spPr>
          <a:xfrm>
            <a:off x="8615839" y="1757362"/>
            <a:ext cx="85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94A3B8"/>
                </a:solidFill>
              </a:rPr>
              <a:t>›</a:t>
            </a:r>
            <a:endParaRPr lang="en-US" sz="2400"/>
          </a:p>
        </p:txBody>
      </p:sp>
      <p:sp>
        <p:nvSpPr>
          <p:cNvPr id="40" name="Shape 32"/>
          <p:cNvSpPr/>
          <p:nvPr/>
        </p:nvSpPr>
        <p:spPr>
          <a:xfrm>
            <a:off x="8682895" y="1147762"/>
            <a:ext cx="1267968" cy="1889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913399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13399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7</a:t>
            </a:r>
            <a:endParaRPr lang="en-US" sz="1333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2079" y="1684210"/>
            <a:ext cx="609600" cy="6096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70727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67"/>
          </a:p>
        </p:txBody>
      </p:sp>
      <p:sp>
        <p:nvSpPr>
          <p:cNvPr id="45" name="Text 36"/>
          <p:cNvSpPr/>
          <p:nvPr/>
        </p:nvSpPr>
        <p:spPr>
          <a:xfrm>
            <a:off x="9956959" y="1757362"/>
            <a:ext cx="85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94A3B8"/>
                </a:solidFill>
              </a:rPr>
              <a:t>›</a:t>
            </a:r>
            <a:endParaRPr lang="en-US" sz="2400"/>
          </a:p>
        </p:txBody>
      </p:sp>
      <p:sp>
        <p:nvSpPr>
          <p:cNvPr id="46" name="Shape 37"/>
          <p:cNvSpPr/>
          <p:nvPr/>
        </p:nvSpPr>
        <p:spPr>
          <a:xfrm>
            <a:off x="10024015" y="1147762"/>
            <a:ext cx="1267968" cy="1889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10475119" y="1233106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10475119" y="1245298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8</a:t>
            </a:r>
            <a:endParaRPr lang="en-US" sz="1333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3199" y="1684210"/>
            <a:ext cx="609600" cy="60960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0048399" y="2366962"/>
            <a:ext cx="12192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67"/>
          </a:p>
          <a:p>
            <a:pPr marL="0" indent="0" algn="ctr">
              <a:buNone/>
            </a:pPr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67"/>
          </a:p>
        </p:txBody>
      </p:sp>
      <p:sp>
        <p:nvSpPr>
          <p:cNvPr id="51" name="Shape 41"/>
          <p:cNvSpPr/>
          <p:nvPr/>
        </p:nvSpPr>
        <p:spPr>
          <a:xfrm>
            <a:off x="257175" y="3364706"/>
            <a:ext cx="11582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257175" y="3364706"/>
            <a:ext cx="1158240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501015" y="338909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67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439" y="4035266"/>
            <a:ext cx="341376" cy="341376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903351" y="3974306"/>
            <a:ext cx="10728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 enforces mandatory code review — no code merges without a +2 approval, ensuring quality gates</a:t>
            </a:r>
            <a:endParaRPr lang="en-US" sz="1467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439" y="4547330"/>
            <a:ext cx="341376" cy="341376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903351" y="4486370"/>
            <a:ext cx="10728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auto-triggers on every Gerrit patchset, providing instant build feedback without manual intervention</a:t>
            </a:r>
            <a:endParaRPr lang="en-US" sz="1467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439" y="5059394"/>
            <a:ext cx="341376" cy="341376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903351" y="4998434"/>
            <a:ext cx="10728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label from Jenkins and Code-Review +2 must both pass before any merge is allowed</a:t>
            </a:r>
            <a:endParaRPr lang="en-US" sz="1467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439" y="5571458"/>
            <a:ext cx="341376" cy="341376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903351" y="5510498"/>
            <a:ext cx="10728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notifications keep developers and reviewers informed of build status in real-time</a:t>
            </a:r>
            <a:endParaRPr lang="en-US" sz="1467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439" y="6083522"/>
            <a:ext cx="341376" cy="341376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903351" y="6022562"/>
            <a:ext cx="10728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workflow is auditable — every change, vote, build, and merge is tracked and logged</a:t>
            </a:r>
            <a:endParaRPr lang="en-US" sz="1467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8D430C7-6BC3-6703-3B84-7504D62D9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06" y="1846421"/>
            <a:ext cx="1371600" cy="13716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DB0514C9-5194-234E-553E-6042F2BC83EE}"/>
              </a:ext>
            </a:extLst>
          </p:cNvPr>
          <p:cNvSpPr/>
          <p:nvPr/>
        </p:nvSpPr>
        <p:spPr>
          <a:xfrm>
            <a:off x="2259806" y="3172301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>
                <a:latin typeface="Arial Black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>
              <a:latin typeface="Arial Black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204B9CC-A44D-047A-441E-08697BB4EF3F}"/>
              </a:ext>
            </a:extLst>
          </p:cNvPr>
          <p:cNvSpPr/>
          <p:nvPr/>
        </p:nvSpPr>
        <p:spPr>
          <a:xfrm>
            <a:off x="2259806" y="3995261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CCF837B-0B2A-A9C8-3AFD-E5F342039464}"/>
              </a:ext>
            </a:extLst>
          </p:cNvPr>
          <p:cNvSpPr/>
          <p:nvPr/>
        </p:nvSpPr>
        <p:spPr>
          <a:xfrm>
            <a:off x="2259806" y="454390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Gerrit Code Review  ·  Jenkins CI/CD  ·  Automated Pipelines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50466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Application>Microsoft Office PowerPoint</Application>
  <PresentationFormat>Widescreen</PresentationFormat>
  <Slides>22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dc:description/>
  <cp:revision>2</cp:revision>
  <dcterms:modified xsi:type="dcterms:W3CDTF">2026-05-15T07:33:04Z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